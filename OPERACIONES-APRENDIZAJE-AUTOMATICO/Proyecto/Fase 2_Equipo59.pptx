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iGzOT436+hM2yOoktNB0hq/4Pr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70F448-5C34-4DF1-AD9C-3E6FBF5B6CA0}">
  <a:tblStyle styleId="{7E70F448-5C34-4DF1-AD9C-3E6FBF5B6CA0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4E7"/>
          </a:solidFill>
        </a:fill>
      </a:tcStyle>
    </a:wholeTbl>
    <a:band1H>
      <a:tcTxStyle b="off" i="off"/>
      <a:tcStyle>
        <a:fill>
          <a:solidFill>
            <a:srgbClr val="DBE9C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BE9CB"/>
          </a:solidFill>
        </a:fill>
      </a:tcStyle>
    </a:band1V>
    <a:band2V>
      <a:tcTxStyle b="off" i="off"/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4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3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El proyecto busca anticipar patrones de ausentismo laboral para mejorar productividad y bienestar organizacional. En esta fase, se garantiza la calidad y preparación de datos para el modelo predictivo. La ejecución fue colaborativa: Data Engineer limpió datos, Data Scientist identificó variables, ML Engineer preparó el entorno, Software Engineer integró código y DevOps automatizó procesos con Git y DVC.</a:t>
            </a:r>
            <a:endParaRPr/>
          </a:p>
        </p:txBody>
      </p:sp>
      <p:sp>
        <p:nvSpPr>
          <p:cNvPr id="198" name="Google Shape;1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f59254beb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9f59254beb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Se implementó Data Version Control (DVC) para mantener un historial completo de los datasets, con versiones originales y depuradas. La integración con GitHub asegura trazabilidad, colaboración y auditoría de cambios. Como resultado, se obtiene un ecosistema de datos reproducible, alineado con los estándares corporativos de MLOps.</a:t>
            </a:r>
            <a:endParaRPr/>
          </a:p>
        </p:txBody>
      </p:sp>
      <p:sp>
        <p:nvSpPr>
          <p:cNvPr id="233" name="Google Shape;233;g39f59254beb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El ausentismo laboral genera altos costos operativos y dificulta la eficiencia en la planeación. El objetivo es predecir las horas de ausencia de cada colaborador considerando perfil, entorno y comportamiento. Esto permitirá optimizar la asignación de recursos, fortalecer estrategias de salud y bienestar, y prevenir disrupciones operativas para mejorar la productividad.</a:t>
            </a:r>
            <a:endParaRPr/>
          </a:p>
        </p:txBody>
      </p:sp>
      <p:sp>
        <p:nvSpPr>
          <p:cNvPr id="254" name="Google Shape;2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Se validaron 754 registros y 22 variables, eliminando duplicados, valores nulos e inconsistentes. Los formatos se estandarizaron y se corrigieron valores fuera de rango. Además, se diseñó un pipeline automatizado de limpieza para asegurar la consistencia en futuras actualizaciones. El resultado es un conjunto de datos limpio, estandarizado y listo para modelado.</a:t>
            </a:r>
            <a:endParaRPr/>
          </a:p>
        </p:txBody>
      </p:sp>
      <p:sp>
        <p:nvSpPr>
          <p:cNvPr id="284" name="Google Shape;2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f6efa24e9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9f6efa24e9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Se validaron 754 registros y 22 variables, eliminando duplicados, valores nulos e inconsistentes. Los formatos se estandarizaron y se corrigieron valores fuera de rango. Además, se diseñó un pipeline automatizado de limpieza para asegurar la consistencia en futuras actualizaciones. El resultado es un conjunto de datos limpio, estandarizado y listo para modelado.</a:t>
            </a:r>
            <a:endParaRPr/>
          </a:p>
        </p:txBody>
      </p:sp>
      <p:sp>
        <p:nvSpPr>
          <p:cNvPr id="320" name="Google Shape;320;g39f6efa24e9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f6efa24e9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9f6efa24e9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Se validaron 754 registros y 22 variables, eliminando duplicados, valores nulos e inconsistentes. Los formatos se estandarizaron y se corrigieron valores fuera de rango. Además, se diseñó un pipeline automatizado de limpieza para asegurar la consistencia en futuras actualizaciones. El resultado es un conjunto de datos limpio, estandarizado y listo para modelado.</a:t>
            </a:r>
            <a:endParaRPr/>
          </a:p>
        </p:txBody>
      </p:sp>
      <p:sp>
        <p:nvSpPr>
          <p:cNvPr id="351" name="Google Shape;351;g39f6efa24e9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9f6efa24e9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9f6efa24e9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Se validaron 754 registros y 22 variables, eliminando duplicados, valores nulos e inconsistentes. Los formatos se estandarizaron y se corrigieron valores fuera de rango. Además, se diseñó un pipeline automatizado de limpieza para asegurar la consistencia en futuras actualizaciones. El resultado es un conjunto de datos limpio, estandarizado y listo para modelado.</a:t>
            </a:r>
            <a:endParaRPr/>
          </a:p>
        </p:txBody>
      </p:sp>
      <p:sp>
        <p:nvSpPr>
          <p:cNvPr id="382" name="Google Shape;382;g39f6efa24e9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9f6efa24e9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9f6efa24e9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Se validaron 754 registros y 22 variables, eliminando duplicados, valores nulos e inconsistentes. Los formatos se estandarizaron y se corrigieron valores fuera de rango. Además, se diseñó un pipeline automatizado de limpieza para asegurar la consistencia en futuras actualizaciones. El resultado es un conjunto de datos limpio, estandarizado y listo para modelado.</a:t>
            </a:r>
            <a:endParaRPr/>
          </a:p>
        </p:txBody>
      </p:sp>
      <p:sp>
        <p:nvSpPr>
          <p:cNvPr id="414" name="Google Shape;414;g39f6efa24e9_0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Se implementó Data Version Control (DVC) para mantener un historial completo de los datasets, con versiones originales y depuradas. La integración con GitHub asegura trazabilidad, colaboración y auditoría de cambios. Como resultado, se obtiene un ecosistema de datos reproducible, alineado con los estándares corporativos de MLOps.</a:t>
            </a:r>
            <a:endParaRPr/>
          </a:p>
        </p:txBody>
      </p:sp>
      <p:sp>
        <p:nvSpPr>
          <p:cNvPr id="446" name="Google Shape;44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9f59254beb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9f59254beb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Se implementó Data Version Control (DVC) para mantener un historial completo de los datasets, con versiones originales y depuradas. La integración con GitHub asegura trazabilidad, colaboración y auditoría de cambios. Como resultado, se obtiene un ecosistema de datos reproducible, alineado con los estándares corporativos de MLOps.</a:t>
            </a:r>
            <a:endParaRPr/>
          </a:p>
        </p:txBody>
      </p:sp>
      <p:sp>
        <p:nvSpPr>
          <p:cNvPr id="468" name="Google Shape;468;g39f59254beb_0_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9f59254beb_0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9f59254beb_0_3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Se implementó Data Version Control (DVC) para mantener un historial completo de los datasets, con versiones originales y depuradas. La integración con GitHub asegura trazabilidad, colaboración y auditoría de cambios. Como resultado, se obtiene un ecosistema de datos reproducible, alineado con los estándares corporativos de MLOps.</a:t>
            </a:r>
            <a:endParaRPr/>
          </a:p>
        </p:txBody>
      </p:sp>
      <p:sp>
        <p:nvSpPr>
          <p:cNvPr id="496" name="Google Shape;496;g39f59254beb_0_3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9f59254beb_0_3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9f59254beb_0_3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Se implementó Data Version Control (DVC) para mantener un historial completo de los datasets, con versiones originales y depuradas. La integración con GitHub asegura trazabilidad, colaboración y auditoría de cambios. Como resultado, se obtiene un ecosistema de datos reproducible, alineado con los estándares corporativos de MLOps.</a:t>
            </a:r>
            <a:endParaRPr/>
          </a:p>
        </p:txBody>
      </p:sp>
      <p:sp>
        <p:nvSpPr>
          <p:cNvPr id="524" name="Google Shape;524;g39f59254beb_0_3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9f59254beb_0_3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9f59254beb_0_3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Se implementó Data Version Control (DVC) para mantener un historial completo de los datasets, con versiones originales y depuradas. La integración con GitHub asegura trazabilidad, colaboración y auditoría de cambios. Como resultado, se obtiene un ecosistema de datos reproducible, alineado con los estándares corporativos de MLOps.</a:t>
            </a:r>
            <a:endParaRPr/>
          </a:p>
        </p:txBody>
      </p:sp>
      <p:sp>
        <p:nvSpPr>
          <p:cNvPr id="549" name="Google Shape;549;g39f59254beb_0_3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9f34c83a37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g39f34c83a37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El ausentismo laboral genera altos costos operativos y dificulta la eficiencia en la planeación. El objetivo es predecir las horas de ausencia de cada colaborador considerando perfil, entorno y comportamiento. Esto permitirá optimizar la asignación de recursos, fortalecer estrategias de salud y bienestar, y prevenir disrupciones operativas para mejorar la productividad.</a:t>
            </a:r>
            <a:endParaRPr/>
          </a:p>
        </p:txBody>
      </p:sp>
      <p:sp>
        <p:nvSpPr>
          <p:cNvPr id="573" name="Google Shape;573;g39f34c83a37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9f34c83a37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g39f34c83a37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El ausentismo laboral genera altos costos operativos y dificulta la eficiencia en la planeación. El objetivo es predecir las horas de ausencia de cada colaborador considerando perfil, entorno y comportamiento. Esto permitirá optimizar la asignación de recursos, fortalecer estrategias de salud y bienestar, y prevenir disrupciones operativas para mejorar la productividad.</a:t>
            </a:r>
            <a:endParaRPr/>
          </a:p>
        </p:txBody>
      </p:sp>
      <p:sp>
        <p:nvSpPr>
          <p:cNvPr id="603" name="Google Shape;603;g39f34c83a37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9f34c83a37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39f34c83a37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El ausentismo laboral genera altos costos operativos y dificulta la eficiencia en la planeación. El objetivo es predecir las horas de ausencia de cada colaborador considerando perfil, entorno y comportamiento. Esto permitirá optimizar la asignación de recursos, fortalecer estrategias de salud y bienestar, y prevenir disrupciones operativas para mejorar la productividad.</a:t>
            </a:r>
            <a:endParaRPr/>
          </a:p>
        </p:txBody>
      </p:sp>
      <p:sp>
        <p:nvSpPr>
          <p:cNvPr id="633" name="Google Shape;633;g39f34c83a37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9f34c83a37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g39f34c83a37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El ausentismo laboral genera altos costos operativos y dificulta la eficiencia en la planeación. El objetivo es predecir las horas de ausencia de cada colaborador considerando perfil, entorno y comportamiento. Esto permitirá optimizar la asignación de recursos, fortalecer estrategias de salud y bienestar, y prevenir disrupciones operativas para mejorar la productividad.</a:t>
            </a:r>
            <a:endParaRPr/>
          </a:p>
        </p:txBody>
      </p:sp>
      <p:sp>
        <p:nvSpPr>
          <p:cNvPr id="662" name="Google Shape;662;g39f34c83a37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9f34c83a37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g39f34c83a37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El ausentismo laboral genera altos costos operativos y dificulta la eficiencia en la planeación. El objetivo es predecir las horas de ausencia de cada colaborador considerando perfil, entorno y comportamiento. Esto permitirá optimizar la asignación de recursos, fortalecer estrategias de salud y bienestar, y prevenir disrupciones operativas para mejorar la productividad.</a:t>
            </a:r>
            <a:endParaRPr/>
          </a:p>
        </p:txBody>
      </p:sp>
      <p:sp>
        <p:nvSpPr>
          <p:cNvPr id="691" name="Google Shape;691;g39f34c83a37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Origen de imagen: biblioteca de contenido de Microsoft 365</a:t>
            </a:r>
            <a:br>
              <a:rPr lang="en"/>
            </a:br>
            <a:r>
              <a:rPr lang="en"/>
              <a:t>La Fase 1 culminó con un ecosistema de datos confiable y versionado. Se implementó un pipeline de preprocesamiento automatizado y reutilizable. Además, se fortaleció la colaboración entre roles técnicos mediante MLOps, dejando al equipo listo para abordar la modelación e implementación productiva, impulsando el uso estratégico de IA en gestión del talento.</a:t>
            </a:r>
            <a:endParaRPr/>
          </a:p>
        </p:txBody>
      </p:sp>
      <p:sp>
        <p:nvSpPr>
          <p:cNvPr id="719" name="Google Shape;71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0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4" name="Google Shape;24;p20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0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20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</p:sp>
        <p:sp>
          <p:nvSpPr>
            <p:cNvPr id="27" name="Google Shape;27;p20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8" name="Google Shape;28;p20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0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</p:sp>
        <p:sp>
          <p:nvSpPr>
            <p:cNvPr id="30" name="Google Shape;30;p20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</p:sp>
        <p:sp>
          <p:nvSpPr>
            <p:cNvPr id="31" name="Google Shape;31;p20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</p:sp>
        <p:sp>
          <p:nvSpPr>
            <p:cNvPr id="32" name="Google Shape;32;p2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0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0"/>
          <p:cNvSpPr txBox="1"/>
          <p:nvPr>
            <p:ph type="ctrTitle"/>
          </p:nvPr>
        </p:nvSpPr>
        <p:spPr>
          <a:xfrm>
            <a:off x="1130300" y="1803400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  <a:defRPr sz="41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subTitle"/>
          </p:nvPr>
        </p:nvSpPr>
        <p:spPr>
          <a:xfrm>
            <a:off x="1130300" y="3038125"/>
            <a:ext cx="5825202" cy="8226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0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" type="body"/>
          </p:nvPr>
        </p:nvSpPr>
        <p:spPr>
          <a:xfrm>
            <a:off x="508001" y="1620442"/>
            <a:ext cx="3138026" cy="2910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2" type="body"/>
          </p:nvPr>
        </p:nvSpPr>
        <p:spPr>
          <a:xfrm>
            <a:off x="3817477" y="1620442"/>
            <a:ext cx="3138026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508001" y="2025650"/>
            <a:ext cx="6447501" cy="136993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  <a:defRPr b="0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508001" y="3395586"/>
            <a:ext cx="6447501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06809" y="1620737"/>
            <a:ext cx="3139217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506809" y="2052934"/>
            <a:ext cx="3139217" cy="24780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3" type="body"/>
          </p:nvPr>
        </p:nvSpPr>
        <p:spPr>
          <a:xfrm>
            <a:off x="3816287" y="1620737"/>
            <a:ext cx="3139213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63" name="Google Shape;63;p26"/>
          <p:cNvSpPr txBox="1"/>
          <p:nvPr>
            <p:ph idx="4" type="body"/>
          </p:nvPr>
        </p:nvSpPr>
        <p:spPr>
          <a:xfrm>
            <a:off x="3816288" y="2052934"/>
            <a:ext cx="3139213" cy="24780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/>
          <p:nvPr>
            <p:ph type="title"/>
          </p:nvPr>
        </p:nvSpPr>
        <p:spPr>
          <a:xfrm>
            <a:off x="508001" y="1123953"/>
            <a:ext cx="2890896" cy="9588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" type="body"/>
          </p:nvPr>
        </p:nvSpPr>
        <p:spPr>
          <a:xfrm>
            <a:off x="3570346" y="386193"/>
            <a:ext cx="3385156" cy="41448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2" type="body"/>
          </p:nvPr>
        </p:nvSpPr>
        <p:spPr>
          <a:xfrm>
            <a:off x="508001" y="2082802"/>
            <a:ext cx="2890896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9pPr>
          </a:lstStyle>
          <a:p/>
        </p:txBody>
      </p:sp>
      <p:sp>
        <p:nvSpPr>
          <p:cNvPr id="80" name="Google Shape;80;p29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0"/>
          <p:cNvSpPr txBox="1"/>
          <p:nvPr>
            <p:ph type="title"/>
          </p:nvPr>
        </p:nvSpPr>
        <p:spPr>
          <a:xfrm>
            <a:off x="508000" y="3600450"/>
            <a:ext cx="64475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30"/>
          <p:cNvSpPr/>
          <p:nvPr>
            <p:ph idx="2" type="pic"/>
          </p:nvPr>
        </p:nvSpPr>
        <p:spPr>
          <a:xfrm>
            <a:off x="508000" y="457200"/>
            <a:ext cx="6447501" cy="288428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30"/>
          <p:cNvSpPr txBox="1"/>
          <p:nvPr>
            <p:ph idx="1" type="body"/>
          </p:nvPr>
        </p:nvSpPr>
        <p:spPr>
          <a:xfrm>
            <a:off x="508000" y="4025503"/>
            <a:ext cx="6447500" cy="5055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87" name="Google Shape;87;p30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1"/>
          <p:cNvSpPr txBox="1"/>
          <p:nvPr>
            <p:ph type="title"/>
          </p:nvPr>
        </p:nvSpPr>
        <p:spPr>
          <a:xfrm>
            <a:off x="508001" y="457200"/>
            <a:ext cx="6447501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" type="body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31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 txBox="1"/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" type="body"/>
          </p:nvPr>
        </p:nvSpPr>
        <p:spPr>
          <a:xfrm>
            <a:off x="1024604" y="2724150"/>
            <a:ext cx="54183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99" name="Google Shape;99;p32"/>
          <p:cNvSpPr txBox="1"/>
          <p:nvPr>
            <p:ph idx="2" type="body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32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32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32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32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2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3"/>
          <p:cNvSpPr txBox="1"/>
          <p:nvPr>
            <p:ph type="title"/>
          </p:nvPr>
        </p:nvSpPr>
        <p:spPr>
          <a:xfrm>
            <a:off x="508001" y="1448991"/>
            <a:ext cx="6447501" cy="194659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1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3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33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33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4"/>
          <p:cNvSpPr txBox="1"/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34"/>
          <p:cNvSpPr txBox="1"/>
          <p:nvPr>
            <p:ph idx="1" type="body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14" name="Google Shape;114;p34"/>
          <p:cNvSpPr txBox="1"/>
          <p:nvPr>
            <p:ph idx="2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34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34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34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34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"/>
          <p:cNvSpPr txBox="1"/>
          <p:nvPr>
            <p:ph type="title"/>
          </p:nvPr>
        </p:nvSpPr>
        <p:spPr>
          <a:xfrm>
            <a:off x="514349" y="457200"/>
            <a:ext cx="6441152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" type="body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23" name="Google Shape;123;p35"/>
          <p:cNvSpPr txBox="1"/>
          <p:nvPr>
            <p:ph idx="2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35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5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35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6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idx="1" type="body"/>
          </p:nvPr>
        </p:nvSpPr>
        <p:spPr>
          <a:xfrm rot="5400000">
            <a:off x="2276461" y="-148019"/>
            <a:ext cx="2910580" cy="644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30" name="Google Shape;130;p36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36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36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 txBox="1"/>
          <p:nvPr>
            <p:ph type="title"/>
          </p:nvPr>
        </p:nvSpPr>
        <p:spPr>
          <a:xfrm rot="5400000">
            <a:off x="4495739" y="1937215"/>
            <a:ext cx="3938588" cy="978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1" type="body"/>
          </p:nvPr>
        </p:nvSpPr>
        <p:spPr>
          <a:xfrm rot="5400000">
            <a:off x="1186264" y="-221062"/>
            <a:ext cx="3938588" cy="52951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36" name="Google Shape;136;p37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37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7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508001" y="1620442"/>
            <a:ext cx="3138026" cy="2910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2" type="body"/>
          </p:nvPr>
        </p:nvSpPr>
        <p:spPr>
          <a:xfrm>
            <a:off x="3817477" y="1620442"/>
            <a:ext cx="3138026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3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23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9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7" name="Google Shape;7;p19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19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19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</p:sp>
        <p:sp>
          <p:nvSpPr>
            <p:cNvPr id="10" name="Google Shape;10;p19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19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9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</p:sp>
        <p:sp>
          <p:nvSpPr>
            <p:cNvPr id="13" name="Google Shape;13;p19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</p:sp>
        <p:sp>
          <p:nvSpPr>
            <p:cNvPr id="14" name="Google Shape;14;p19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</p:sp>
        <p:sp>
          <p:nvSpPr>
            <p:cNvPr id="15" name="Google Shape;15;p19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9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19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7305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7305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7305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7305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7305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7305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22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141" name="Google Shape;141;p2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2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" name="Google Shape;143;p2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</p:sp>
        <p:sp>
          <p:nvSpPr>
            <p:cNvPr id="144" name="Google Shape;144;p2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45" name="Google Shape;145;p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</p:sp>
        <p:sp>
          <p:nvSpPr>
            <p:cNvPr id="147" name="Google Shape;147;p2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</p:sp>
        <p:sp>
          <p:nvSpPr>
            <p:cNvPr id="148" name="Google Shape;148;p2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</p:sp>
        <p:sp>
          <p:nvSpPr>
            <p:cNvPr id="149" name="Google Shape;149;p2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2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22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7305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7305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7305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7305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7305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7305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53" name="Google Shape;153;p22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54" name="Google Shape;154;p22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youtu.be/zedz4P_Kmrk" TargetMode="External"/><Relationship Id="rId4" Type="http://schemas.openxmlformats.org/officeDocument/2006/relationships/hyperlink" Target="https://github.com/Equipo59/absenteeism_at_work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s://github.com/Equipo59/absenteeism_at_wor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11.jpg"/><Relationship Id="rId5" Type="http://schemas.openxmlformats.org/officeDocument/2006/relationships/image" Target="../media/image10.png"/><Relationship Id="rId6" Type="http://schemas.openxmlformats.org/officeDocument/2006/relationships/image" Target="../media/image32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hyperlink" Target="http://features.py" TargetMode="External"/><Relationship Id="rId7" Type="http://schemas.openxmlformats.org/officeDocument/2006/relationships/hyperlink" Target="https://github.com/Equipo59/absenteeism_at_work/blob/master/absenteeism_at_work/features.py" TargetMode="External"/><Relationship Id="rId8" Type="http://schemas.openxmlformats.org/officeDocument/2006/relationships/hyperlink" Target="http://dataset.py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36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30.png"/><Relationship Id="rId6" Type="http://schemas.openxmlformats.org/officeDocument/2006/relationships/image" Target="../media/image39.png"/><Relationship Id="rId7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hyperlink" Target="http://production-alb-1418263701.us-east-1.elb.amazonaws.com/" TargetMode="External"/><Relationship Id="rId9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3.png"/><Relationship Id="rId8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production-alb-1418263701.us-east-1.elb.amazonaws.com/" TargetMode="External"/><Relationship Id="rId4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14.png"/><Relationship Id="rId7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production-alb-1418263701.us-east-1.elb.amazonaws.com/docs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40.png"/><Relationship Id="rId6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"/>
          <p:cNvSpPr txBox="1"/>
          <p:nvPr>
            <p:ph idx="1" type="subTitle"/>
          </p:nvPr>
        </p:nvSpPr>
        <p:spPr>
          <a:xfrm>
            <a:off x="1455605" y="2633028"/>
            <a:ext cx="58251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00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555"/>
              <a:buNone/>
            </a:pPr>
            <a:r>
              <a:rPr lang="en" sz="3600"/>
              <a:t>Carlos Pano - A01066264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80555"/>
              <a:buNone/>
            </a:pPr>
            <a:r>
              <a:rPr lang="en" sz="3600"/>
              <a:t>Eduardo Porras - A01796827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80555"/>
              <a:buNone/>
            </a:pPr>
            <a:r>
              <a:rPr lang="en" sz="3600"/>
              <a:t>Jorge Acevedo – A00565936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80555"/>
              <a:buNone/>
            </a:pPr>
            <a:r>
              <a:rPr lang="en" sz="3600"/>
              <a:t>Miguel Marines - A01705317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80555"/>
              <a:buNone/>
            </a:pPr>
            <a:r>
              <a:rPr lang="en" sz="3600"/>
              <a:t>César Tirado - A01795845</a:t>
            </a:r>
            <a:endParaRPr sz="3600"/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78571"/>
              <a:buNone/>
            </a:pPr>
            <a:r>
              <a:t/>
            </a:r>
            <a:endParaRPr/>
          </a:p>
        </p:txBody>
      </p:sp>
      <p:sp>
        <p:nvSpPr>
          <p:cNvPr id="168" name="Google Shape;168;p1"/>
          <p:cNvSpPr txBox="1"/>
          <p:nvPr>
            <p:ph type="ctrTitle"/>
          </p:nvPr>
        </p:nvSpPr>
        <p:spPr>
          <a:xfrm>
            <a:off x="262730" y="1398303"/>
            <a:ext cx="70182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</a:pPr>
            <a:r>
              <a:rPr lang="en"/>
              <a:t>Fase 2 | Avance de Proyecto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</a:pPr>
            <a:r>
              <a:rPr lang="en"/>
              <a:t>Gestión del Proyecto 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/>
          <p:nvPr>
            <p:ph type="ctrTitle"/>
          </p:nvPr>
        </p:nvSpPr>
        <p:spPr>
          <a:xfrm>
            <a:off x="1130300" y="2311480"/>
            <a:ext cx="58251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</a:pPr>
            <a:r>
              <a:rPr lang="en"/>
              <a:t>Link video</a:t>
            </a:r>
            <a:endParaRPr/>
          </a:p>
        </p:txBody>
      </p:sp>
      <p:sp>
        <p:nvSpPr>
          <p:cNvPr id="174" name="Google Shape;174;p2"/>
          <p:cNvSpPr txBox="1"/>
          <p:nvPr>
            <p:ph idx="1" type="subTitle"/>
          </p:nvPr>
        </p:nvSpPr>
        <p:spPr>
          <a:xfrm>
            <a:off x="1130300" y="2914780"/>
            <a:ext cx="5825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https://youtu.be/zedz4P_Kmrk</a:t>
            </a:r>
            <a:endParaRPr sz="2000"/>
          </a:p>
        </p:txBody>
      </p:sp>
      <p:sp>
        <p:nvSpPr>
          <p:cNvPr id="175" name="Google Shape;175;p2"/>
          <p:cNvSpPr txBox="1"/>
          <p:nvPr>
            <p:ph type="ctrTitle"/>
          </p:nvPr>
        </p:nvSpPr>
        <p:spPr>
          <a:xfrm>
            <a:off x="1228975" y="532962"/>
            <a:ext cx="58251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</a:pPr>
            <a:r>
              <a:rPr lang="en"/>
              <a:t>Link Repositorio</a:t>
            </a:r>
            <a:endParaRPr/>
          </a:p>
        </p:txBody>
      </p:sp>
      <p:sp>
        <p:nvSpPr>
          <p:cNvPr id="176" name="Google Shape;176;p2"/>
          <p:cNvSpPr txBox="1"/>
          <p:nvPr>
            <p:ph idx="1" type="subTitle"/>
          </p:nvPr>
        </p:nvSpPr>
        <p:spPr>
          <a:xfrm>
            <a:off x="1228975" y="1113936"/>
            <a:ext cx="5825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https://github.com/Equipo59/absenteeism_at_work/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4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182" name="Google Shape;182;p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4" name="Google Shape;184;p4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1" name="Google Shape;191;p4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92" name="Google Shape;192;p4"/>
          <p:cNvSpPr txBox="1"/>
          <p:nvPr>
            <p:ph type="title"/>
          </p:nvPr>
        </p:nvSpPr>
        <p:spPr>
          <a:xfrm>
            <a:off x="4572000" y="2103497"/>
            <a:ext cx="2623200" cy="7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en" sz="54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 rot="10800000">
            <a:off x="2381" y="9525"/>
            <a:ext cx="631947" cy="4249616"/>
          </a:xfrm>
          <a:prstGeom prst="triangle">
            <a:avLst>
              <a:gd fmla="val 100000" name="adj"/>
            </a:avLst>
          </a:prstGeom>
          <a:solidFill>
            <a:schemeClr val="accent1">
              <a:alpha val="84313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94" name="Google Shape;194;p4"/>
          <p:cNvGraphicFramePr/>
          <p:nvPr/>
        </p:nvGraphicFramePr>
        <p:xfrm>
          <a:off x="666452" y="657411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{7E70F448-5C34-4DF1-AD9C-3E6FBF5B6CA0}</a:tableStyleId>
              </a:tblPr>
              <a:tblGrid>
                <a:gridCol w="715400"/>
                <a:gridCol w="2950075"/>
              </a:tblGrid>
              <a:tr h="6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300"/>
                        <a:buFont typeface="Trebuchet MS"/>
                        <a:buNone/>
                      </a:pPr>
                      <a:r>
                        <a:rPr b="1" lang="en" sz="2300" u="none" cap="none" strike="noStrike">
                          <a:solidFill>
                            <a:schemeClr val="accent1"/>
                          </a:solidFill>
                        </a:rPr>
                        <a:t>01</a:t>
                      </a:r>
                      <a:endParaRPr sz="1100" u="none" cap="none" strike="noStrike"/>
                    </a:p>
                  </a:txBody>
                  <a:tcPr marT="95300" marB="95300" marR="95300" marL="95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b="0" lang="en" sz="1400" u="none" cap="none" strike="noStrike">
                          <a:solidFill>
                            <a:schemeClr val="dk1"/>
                          </a:solidFill>
                        </a:rPr>
                        <a:t>Contexto</a:t>
                      </a:r>
                      <a:endParaRPr b="0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5300" marB="95300" marR="95300" marL="95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300"/>
                        <a:buFont typeface="Trebuchet MS"/>
                        <a:buNone/>
                      </a:pPr>
                      <a:r>
                        <a:rPr b="1" lang="en" sz="2300" u="none" cap="none" strike="noStrike">
                          <a:solidFill>
                            <a:schemeClr val="accent1"/>
                          </a:solidFill>
                        </a:rPr>
                        <a:t>02</a:t>
                      </a:r>
                      <a:endParaRPr sz="1100" u="none" cap="none" strike="noStrike"/>
                    </a:p>
                  </a:txBody>
                  <a:tcPr marT="95300" marB="95300" marR="95300" marL="95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en"/>
                        <a:t>Estructuración de Proyectos con Cookiecutter</a:t>
                      </a:r>
                      <a:endParaRPr b="0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5300" marB="95300" marR="95300" marL="95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300"/>
                        <a:buFont typeface="Trebuchet MS"/>
                        <a:buNone/>
                      </a:pPr>
                      <a:r>
                        <a:rPr b="1" lang="en" sz="2300" u="none" cap="none" strike="noStrike">
                          <a:solidFill>
                            <a:schemeClr val="accent1"/>
                          </a:solidFill>
                        </a:rPr>
                        <a:t>03</a:t>
                      </a:r>
                      <a:endParaRPr sz="1100" u="none" cap="none" strike="noStrike"/>
                    </a:p>
                  </a:txBody>
                  <a:tcPr marT="95300" marB="95300" marR="95300" marL="95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en"/>
                        <a:t>Estructuración y Refactorización del Código</a:t>
                      </a:r>
                      <a:endParaRPr b="0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5300" marB="95300" marR="95300" marL="95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300"/>
                        <a:buFont typeface="Trebuchet MS"/>
                        <a:buNone/>
                      </a:pPr>
                      <a:r>
                        <a:rPr b="1" lang="en" sz="2300" u="none" cap="none" strike="noStrike">
                          <a:solidFill>
                            <a:schemeClr val="accent1"/>
                          </a:solidFill>
                        </a:rPr>
                        <a:t>04</a:t>
                      </a:r>
                      <a:endParaRPr sz="1100" u="none" cap="none" strike="noStrike"/>
                    </a:p>
                  </a:txBody>
                  <a:tcPr marT="95300" marB="95300" marR="95300" marL="95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en"/>
                        <a:t>Aplicación de Mejores Prácticas en el Pipeline de Modelado</a:t>
                      </a:r>
                      <a:endParaRPr b="0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5300" marB="95300" marR="95300" marL="95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300"/>
                        <a:buFont typeface="Trebuchet MS"/>
                        <a:buNone/>
                      </a:pPr>
                      <a:r>
                        <a:rPr b="1" lang="en" sz="2300" u="none" cap="none" strike="noStrike">
                          <a:solidFill>
                            <a:schemeClr val="accent1"/>
                          </a:solidFill>
                        </a:rPr>
                        <a:t>05</a:t>
                      </a:r>
                      <a:endParaRPr sz="1100" u="none" cap="none" strike="noStrike"/>
                    </a:p>
                  </a:txBody>
                  <a:tcPr marT="95300" marB="95300" marR="95300" marL="95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en"/>
                        <a:t>Seguimiento de Experimentos y Gestión de Modelos con MLflow</a:t>
                      </a:r>
                      <a:endParaRPr b="0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5300" marB="95300" marR="95300" marL="95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300"/>
                        <a:buFont typeface="Trebuchet MS"/>
                        <a:buNone/>
                      </a:pPr>
                      <a:r>
                        <a:rPr b="1" lang="en" sz="2300" u="none" cap="none" strike="noStrike">
                          <a:solidFill>
                            <a:schemeClr val="accent1"/>
                          </a:solidFill>
                        </a:rPr>
                        <a:t>06</a:t>
                      </a:r>
                      <a:endParaRPr b="1" sz="2300" u="none" cap="none" strike="noStrike">
                        <a:solidFill>
                          <a:schemeClr val="accent1"/>
                        </a:solidFill>
                      </a:endParaRPr>
                    </a:p>
                  </a:txBody>
                  <a:tcPr marT="95300" marB="95300" marR="95300" marL="95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rebuchet MS"/>
                        <a:buNone/>
                      </a:pPr>
                      <a:r>
                        <a:rPr lang="en"/>
                        <a:t>Conclusiones</a:t>
                      </a:r>
                      <a:endParaRPr sz="1100" u="none" cap="none" strike="noStrike"/>
                    </a:p>
                  </a:txBody>
                  <a:tcPr marT="95300" marB="95300" marR="95300" marL="95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1" name="Google Shape;201;p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" name="Google Shape;202;p6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3" name="Google Shape;203;p6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descr="Foto recortada de un joven programador informático mirando datos" id="211" name="Google Shape;211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1" l="16334" r="23618" t="-1"/>
          <a:stretch/>
        </p:blipFill>
        <p:spPr>
          <a:xfrm>
            <a:off x="4555019" y="-1"/>
            <a:ext cx="50841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 txBox="1"/>
          <p:nvPr>
            <p:ph type="title"/>
          </p:nvPr>
        </p:nvSpPr>
        <p:spPr>
          <a:xfrm>
            <a:off x="508000" y="457201"/>
            <a:ext cx="3876222" cy="3510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Contexto</a:t>
            </a:r>
            <a:endParaRPr b="1" sz="2100"/>
          </a:p>
        </p:txBody>
      </p:sp>
      <p:sp>
        <p:nvSpPr>
          <p:cNvPr id="213" name="Google Shape;213;p6"/>
          <p:cNvSpPr txBox="1"/>
          <p:nvPr>
            <p:ph idx="2" type="body"/>
          </p:nvPr>
        </p:nvSpPr>
        <p:spPr>
          <a:xfrm>
            <a:off x="538250" y="1305775"/>
            <a:ext cx="38763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Durante esta fase se </a:t>
            </a: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estructuró el proyecto con buenas prácticas de ingeniería de datos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organizando carpetas y scripts mediante </a:t>
            </a: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Cookiecutter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refactorizando el código para hacerlo más limpio y modular.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Además, se </a:t>
            </a: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implementó el seguimiento de experimentos con MLflow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se utilizó </a:t>
            </a: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colaborar de forma controlada, garantizando trazabilidad y orden en el desarrollo del modelo.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t/>
            </a:r>
            <a:endParaRPr b="1" sz="1100"/>
          </a:p>
          <a:p>
            <a:pPr indent="0" lvl="1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t/>
            </a:r>
            <a:endParaRPr/>
          </a:p>
        </p:txBody>
      </p:sp>
      <p:cxnSp>
        <p:nvCxnSpPr>
          <p:cNvPr id="214" name="Google Shape;214;p6"/>
          <p:cNvCxnSpPr/>
          <p:nvPr/>
        </p:nvCxnSpPr>
        <p:spPr>
          <a:xfrm>
            <a:off x="7028259" y="0"/>
            <a:ext cx="914400" cy="5143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6"/>
          <p:cNvCxnSpPr/>
          <p:nvPr/>
        </p:nvCxnSpPr>
        <p:spPr>
          <a:xfrm flipH="1">
            <a:off x="5568950" y="2761060"/>
            <a:ext cx="3572669" cy="238244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6"/>
          <p:cNvSpPr/>
          <p:nvPr/>
        </p:nvSpPr>
        <p:spPr>
          <a:xfrm>
            <a:off x="6886107" y="-6350"/>
            <a:ext cx="2255512" cy="5149850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411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7202582" y="-6350"/>
            <a:ext cx="1941418" cy="5149850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699250" y="2286000"/>
            <a:ext cx="2444750" cy="2857500"/>
          </a:xfrm>
          <a:prstGeom prst="triangle">
            <a:avLst>
              <a:gd fmla="val 100000" name="adj"/>
            </a:avLst>
          </a:prstGeom>
          <a:solidFill>
            <a:schemeClr val="accent2">
              <a:alpha val="71372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7000875" y="-6350"/>
            <a:ext cx="2140745" cy="5149850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274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8174048" y="-6350"/>
            <a:ext cx="967571" cy="5149850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411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204249" y="-6350"/>
            <a:ext cx="937369" cy="5149850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313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7778750" y="2692400"/>
            <a:ext cx="1362869" cy="2451100"/>
          </a:xfrm>
          <a:prstGeom prst="triangle">
            <a:avLst>
              <a:gd fmla="val 100000" name="adj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508000" y="763438"/>
            <a:ext cx="4064000" cy="3755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Operaciones de Aprendizaje Automático (Machine Learning Operations)</a:t>
            </a:r>
            <a:endParaRPr b="0" i="0" sz="12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4" name="Google Shape;224;p6" title="Amazon-Web-Services-Emble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9350" y="3885550"/>
            <a:ext cx="1015859" cy="571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6" title="github-actions-guia-completa-para-automatizar-flujos-de-trabajo-1024x53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500" y="3885553"/>
            <a:ext cx="1087631" cy="57142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6"/>
          <p:cNvSpPr txBox="1"/>
          <p:nvPr>
            <p:ph idx="2" type="body"/>
          </p:nvPr>
        </p:nvSpPr>
        <p:spPr>
          <a:xfrm>
            <a:off x="1695132" y="4039831"/>
            <a:ext cx="2241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675" lIns="51350" spcFirstLastPara="1" rIns="51350" wrap="square" tIns="25675">
            <a:normAutofit/>
          </a:bodyPr>
          <a:lstStyle/>
          <a:p>
            <a:pPr indent="0" lvl="1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99"/>
              <a:buFont typeface="Arial"/>
              <a:buNone/>
            </a:pPr>
            <a:r>
              <a:rPr b="1" lang="en" sz="14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1" sz="1497"/>
          </a:p>
        </p:txBody>
      </p:sp>
      <p:pic>
        <p:nvPicPr>
          <p:cNvPr id="227" name="Google Shape;227;p6" title="Docker-Logo-201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5928" y="3984160"/>
            <a:ext cx="665196" cy="37420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6"/>
          <p:cNvSpPr txBox="1"/>
          <p:nvPr>
            <p:ph idx="2" type="body"/>
          </p:nvPr>
        </p:nvSpPr>
        <p:spPr>
          <a:xfrm>
            <a:off x="2973104" y="4039831"/>
            <a:ext cx="2241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675" lIns="51350" spcFirstLastPara="1" rIns="51350" wrap="square" tIns="25675">
            <a:normAutofit/>
          </a:bodyPr>
          <a:lstStyle/>
          <a:p>
            <a:pPr indent="0" lvl="1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99"/>
              <a:buFont typeface="Arial"/>
              <a:buNone/>
            </a:pPr>
            <a:r>
              <a:rPr b="1" lang="en" sz="14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1" sz="1497"/>
          </a:p>
        </p:txBody>
      </p:sp>
      <p:pic>
        <p:nvPicPr>
          <p:cNvPr id="229" name="Google Shape;229;p6" title="logo-tea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81525" y="4456975"/>
            <a:ext cx="974013" cy="350998"/>
          </a:xfrm>
          <a:prstGeom prst="rect">
            <a:avLst/>
          </a:prstGeom>
          <a:noFill/>
          <a:ln cap="flat" cmpd="sng" w="11050">
            <a:solidFill>
              <a:srgbClr val="EEF4E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g39f59254beb_0_7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236" name="Google Shape;236;g39f59254beb_0_7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g39f59254beb_0_7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8" name="Google Shape;238;g39f59254beb_0_7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9" name="Google Shape;239;g39f59254beb_0_7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0" name="Google Shape;240;g39f59254beb_0_7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1" name="Google Shape;241;g39f59254beb_0_7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2" name="Google Shape;242;g39f59254beb_0_7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3" name="Google Shape;243;g39f59254beb_0_7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4" name="Google Shape;244;g39f59254beb_0_7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5" name="Google Shape;245;g39f59254beb_0_7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46" name="Google Shape;246;g39f59254beb_0_7"/>
          <p:cNvSpPr txBox="1"/>
          <p:nvPr>
            <p:ph type="title"/>
          </p:nvPr>
        </p:nvSpPr>
        <p:spPr>
          <a:xfrm>
            <a:off x="631950" y="409900"/>
            <a:ext cx="44643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Repositorio GitHub: Diagrama General</a:t>
            </a:r>
            <a:endParaRPr/>
          </a:p>
        </p:txBody>
      </p:sp>
      <p:sp>
        <p:nvSpPr>
          <p:cNvPr id="247" name="Google Shape;247;g39f59254beb_0_7"/>
          <p:cNvSpPr/>
          <p:nvPr/>
        </p:nvSpPr>
        <p:spPr>
          <a:xfrm rot="10800000">
            <a:off x="147" y="116"/>
            <a:ext cx="631800" cy="4249500"/>
          </a:xfrm>
          <a:prstGeom prst="triangle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48" name="Google Shape;248;g39f59254beb_0_7" title="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800" y="1530300"/>
            <a:ext cx="8628398" cy="342522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9f59254beb_0_7"/>
          <p:cNvSpPr txBox="1"/>
          <p:nvPr>
            <p:ph idx="2" type="body"/>
          </p:nvPr>
        </p:nvSpPr>
        <p:spPr>
          <a:xfrm>
            <a:off x="631950" y="809500"/>
            <a:ext cx="6045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1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Estructura general de nuestro repositorio: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https://github.com/Equipo59/absenteeism_at_work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Rama: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9f59254beb_0_7"/>
          <p:cNvSpPr txBox="1"/>
          <p:nvPr/>
        </p:nvSpPr>
        <p:spPr>
          <a:xfrm>
            <a:off x="150" y="4804875"/>
            <a:ext cx="337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2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Owner: All</a:t>
            </a:r>
            <a:endParaRPr sz="1000">
              <a:solidFill>
                <a:schemeClr val="accent2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57" name="Google Shape;257;p7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8" name="Google Shape;258;p7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9" name="Google Shape;259;p7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67" name="Google Shape;267;p7"/>
          <p:cNvSpPr txBox="1"/>
          <p:nvPr>
            <p:ph type="title"/>
          </p:nvPr>
        </p:nvSpPr>
        <p:spPr>
          <a:xfrm>
            <a:off x="508000" y="457200"/>
            <a:ext cx="53172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Estructuración de Proyectos con Cookiecutter</a:t>
            </a:r>
            <a:endParaRPr b="1" sz="2100"/>
          </a:p>
        </p:txBody>
      </p:sp>
      <p:sp>
        <p:nvSpPr>
          <p:cNvPr id="268" name="Google Shape;268;p7"/>
          <p:cNvSpPr txBox="1"/>
          <p:nvPr>
            <p:ph idx="2" type="body"/>
          </p:nvPr>
        </p:nvSpPr>
        <p:spPr>
          <a:xfrm>
            <a:off x="567950" y="1276450"/>
            <a:ext cx="4495800" cy="3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1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generó la estructura base del proyecto con </a:t>
            </a: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Cookiecutter Data Science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organizando módulos en carpetas lógicas como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notebooks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models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mlruns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reports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Esta estandarización facilitó la colaboración, la trazabilidad y el control de versiones, garantizando una base sólida para el desarrollo del modelo.</a:t>
            </a:r>
            <a:endParaRPr sz="1300"/>
          </a:p>
        </p:txBody>
      </p:sp>
      <p:cxnSp>
        <p:nvCxnSpPr>
          <p:cNvPr id="269" name="Google Shape;269;p7"/>
          <p:cNvCxnSpPr/>
          <p:nvPr/>
        </p:nvCxnSpPr>
        <p:spPr>
          <a:xfrm>
            <a:off x="7028259" y="0"/>
            <a:ext cx="914400" cy="5143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7"/>
          <p:cNvCxnSpPr/>
          <p:nvPr/>
        </p:nvCxnSpPr>
        <p:spPr>
          <a:xfrm flipH="1">
            <a:off x="5568950" y="2761060"/>
            <a:ext cx="3572669" cy="238244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7"/>
          <p:cNvSpPr/>
          <p:nvPr/>
        </p:nvSpPr>
        <p:spPr>
          <a:xfrm>
            <a:off x="6886107" y="-6350"/>
            <a:ext cx="2255512" cy="5149850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411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7202582" y="-6350"/>
            <a:ext cx="1941418" cy="5149850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699250" y="2286000"/>
            <a:ext cx="2444750" cy="2857500"/>
          </a:xfrm>
          <a:prstGeom prst="triangle">
            <a:avLst>
              <a:gd fmla="val 100000" name="adj"/>
            </a:avLst>
          </a:prstGeom>
          <a:solidFill>
            <a:schemeClr val="accent2">
              <a:alpha val="71372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7000875" y="-6350"/>
            <a:ext cx="2140745" cy="5149850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274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8174048" y="-6350"/>
            <a:ext cx="967571" cy="5149850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411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8204249" y="-6350"/>
            <a:ext cx="937369" cy="5149850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313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7778750" y="2692400"/>
            <a:ext cx="1362869" cy="2451100"/>
          </a:xfrm>
          <a:prstGeom prst="triangle">
            <a:avLst>
              <a:gd fmla="val 100000" name="adj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508000" y="763438"/>
            <a:ext cx="5533572" cy="3755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lang="en" sz="12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 carpetas caóticas a una arquitectura profesional.</a:t>
            </a:r>
            <a:endParaRPr b="0" i="0" sz="12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9" name="Google Shape;279;p7" title="cookiecutt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688" y="718647"/>
            <a:ext cx="3190300" cy="4424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7" title="Screenshot 2025-11-01 at 10.43.53 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538" y="2381300"/>
            <a:ext cx="4358625" cy="26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8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87" name="Google Shape;287;p8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8" name="Google Shape;288;p8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9" name="Google Shape;289;p8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descr="Números y finanzas" id="297" name="Google Shape;297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652" l="9091" r="0" t="21740"/>
          <a:stretch/>
        </p:blipFill>
        <p:spPr>
          <a:xfrm>
            <a:off x="1" y="8"/>
            <a:ext cx="9143999" cy="514349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8"/>
          <p:cNvSpPr/>
          <p:nvPr/>
        </p:nvSpPr>
        <p:spPr>
          <a:xfrm rot="10800000">
            <a:off x="0" y="0"/>
            <a:ext cx="631947" cy="4249616"/>
          </a:xfrm>
          <a:prstGeom prst="triangle">
            <a:avLst>
              <a:gd fmla="val 100000" name="adj"/>
            </a:avLst>
          </a:prstGeom>
          <a:solidFill>
            <a:schemeClr val="accent1">
              <a:alpha val="84313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1218141" y="0"/>
            <a:ext cx="7029450" cy="5143500"/>
          </a:xfrm>
          <a:prstGeom prst="parallelogram">
            <a:avLst>
              <a:gd fmla="val 14937" name="adj"/>
            </a:avLst>
          </a:prstGeom>
          <a:solidFill>
            <a:schemeClr val="lt1">
              <a:alpha val="9333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00" name="Google Shape;300;p8"/>
          <p:cNvCxnSpPr/>
          <p:nvPr/>
        </p:nvCxnSpPr>
        <p:spPr>
          <a:xfrm>
            <a:off x="7028259" y="0"/>
            <a:ext cx="914400" cy="5143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8"/>
          <p:cNvCxnSpPr/>
          <p:nvPr/>
        </p:nvCxnSpPr>
        <p:spPr>
          <a:xfrm flipH="1">
            <a:off x="5568950" y="2761060"/>
            <a:ext cx="3572669" cy="238244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8"/>
          <p:cNvSpPr/>
          <p:nvPr/>
        </p:nvSpPr>
        <p:spPr>
          <a:xfrm>
            <a:off x="6886107" y="-6350"/>
            <a:ext cx="2255512" cy="5149850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411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3" name="Google Shape;303;p8"/>
          <p:cNvSpPr txBox="1"/>
          <p:nvPr>
            <p:ph type="title"/>
          </p:nvPr>
        </p:nvSpPr>
        <p:spPr>
          <a:xfrm>
            <a:off x="2089524" y="457200"/>
            <a:ext cx="5215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Estructuración y Refactorización del Código</a:t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7202582" y="-6350"/>
            <a:ext cx="1941418" cy="5149850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699250" y="2286000"/>
            <a:ext cx="2444750" cy="2857500"/>
          </a:xfrm>
          <a:prstGeom prst="triangle">
            <a:avLst>
              <a:gd fmla="val 100000" name="adj"/>
            </a:avLst>
          </a:prstGeom>
          <a:solidFill>
            <a:schemeClr val="accent2">
              <a:alpha val="71372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6" name="Google Shape;306;p8"/>
          <p:cNvSpPr txBox="1"/>
          <p:nvPr>
            <p:ph idx="2" type="body"/>
          </p:nvPr>
        </p:nvSpPr>
        <p:spPr>
          <a:xfrm>
            <a:off x="2075132" y="1236515"/>
            <a:ext cx="4865966" cy="29117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rPr b="1" lang="en" sz="1100"/>
              <a:t>E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 código experimental se refactorizó en scripts modulares dentro de la carpeta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modeling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separando funciones de carga, transformación y entrenamiento. Esta práctica mejoró la legibilidad, redujo duplicidad y permitió ejecutar los procesos desde terminal, acercando el proyecto a un entorno de producción.</a:t>
            </a:r>
            <a:r>
              <a:rPr lang="en" sz="1100"/>
              <a:t>modelado.</a:t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7000875" y="-6350"/>
            <a:ext cx="2140745" cy="5149850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274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8174048" y="-6350"/>
            <a:ext cx="967571" cy="5149850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411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8204249" y="-6350"/>
            <a:ext cx="937369" cy="5149850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313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7778750" y="2692400"/>
            <a:ext cx="1362869" cy="2451100"/>
          </a:xfrm>
          <a:prstGeom prst="triangle">
            <a:avLst>
              <a:gd fmla="val 100000" name="adj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1" name="Google Shape;311;p8"/>
          <p:cNvSpPr txBox="1"/>
          <p:nvPr/>
        </p:nvSpPr>
        <p:spPr>
          <a:xfrm>
            <a:off x="2080849" y="818384"/>
            <a:ext cx="5533572" cy="3755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lang="en" sz="12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Del notebook al código limpio y reutilizable.</a:t>
            </a:r>
            <a:endParaRPr b="0" i="0" sz="12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2" name="Google Shape;312;p8" title="modeling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574" y="2402275"/>
            <a:ext cx="2609676" cy="2559474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3" name="Google Shape;313;p8" title="Screenshot 2025-11-01 at 10.18.44 a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9775" y="2381489"/>
            <a:ext cx="3572675" cy="2580262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4" name="Google Shape;314;p8"/>
          <p:cNvSpPr txBox="1"/>
          <p:nvPr/>
        </p:nvSpPr>
        <p:spPr>
          <a:xfrm>
            <a:off x="5667075" y="2027500"/>
            <a:ext cx="269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Pipeline Layer</a:t>
            </a:r>
            <a:endParaRPr b="1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5" name="Google Shape;315;p8" title="Screenshot 2025-11-01 at 10.42.51 a.m.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7671" y="2050000"/>
            <a:ext cx="2127905" cy="291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8" title="Docker-Logo-201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2775" y="1984842"/>
            <a:ext cx="631951" cy="35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g39f6efa24e9_0_6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323" name="Google Shape;323;g39f6efa24e9_0_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4" name="Google Shape;324;g39f6efa24e9_0_6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5" name="Google Shape;325;g39f6efa24e9_0_6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6" name="Google Shape;326;g39f6efa24e9_0_6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7" name="Google Shape;327;g39f6efa24e9_0_6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8" name="Google Shape;328;g39f6efa24e9_0_6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9" name="Google Shape;329;g39f6efa24e9_0_6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0" name="Google Shape;330;g39f6efa24e9_0_6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1" name="Google Shape;331;g39f6efa24e9_0_6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2" name="Google Shape;332;g39f6efa24e9_0_6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descr="Números y finanzas" id="333" name="Google Shape;333;g39f6efa24e9_0_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647" l="9090" r="0" t="21742"/>
          <a:stretch/>
        </p:blipFill>
        <p:spPr>
          <a:xfrm>
            <a:off x="1" y="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9f6efa24e9_0_6"/>
          <p:cNvSpPr/>
          <p:nvPr/>
        </p:nvSpPr>
        <p:spPr>
          <a:xfrm rot="10800000">
            <a:off x="147" y="115"/>
            <a:ext cx="631800" cy="4249500"/>
          </a:xfrm>
          <a:prstGeom prst="triangle">
            <a:avLst>
              <a:gd fmla="val 100000" name="adj"/>
            </a:avLst>
          </a:prstGeom>
          <a:solidFill>
            <a:schemeClr val="accent1">
              <a:alpha val="8471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5" name="Google Shape;335;g39f6efa24e9_0_6"/>
          <p:cNvSpPr/>
          <p:nvPr/>
        </p:nvSpPr>
        <p:spPr>
          <a:xfrm>
            <a:off x="1218141" y="0"/>
            <a:ext cx="7029600" cy="5143500"/>
          </a:xfrm>
          <a:prstGeom prst="parallelogram">
            <a:avLst>
              <a:gd fmla="val 14937" name="adj"/>
            </a:avLst>
          </a:prstGeom>
          <a:solidFill>
            <a:schemeClr val="lt1">
              <a:alpha val="937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6" name="Google Shape;336;g39f6efa24e9_0_6"/>
          <p:cNvCxnSpPr/>
          <p:nvPr/>
        </p:nvCxnSpPr>
        <p:spPr>
          <a:xfrm>
            <a:off x="7028259" y="0"/>
            <a:ext cx="914400" cy="5143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g39f6efa24e9_0_6"/>
          <p:cNvCxnSpPr/>
          <p:nvPr/>
        </p:nvCxnSpPr>
        <p:spPr>
          <a:xfrm flipH="1">
            <a:off x="5568919" y="2761060"/>
            <a:ext cx="3572700" cy="2382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g39f6efa24e9_0_6"/>
          <p:cNvSpPr/>
          <p:nvPr/>
        </p:nvSpPr>
        <p:spPr>
          <a:xfrm>
            <a:off x="6886107" y="-6350"/>
            <a:ext cx="2255512" cy="5149850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9" name="Google Shape;339;g39f6efa24e9_0_6"/>
          <p:cNvSpPr txBox="1"/>
          <p:nvPr>
            <p:ph type="title"/>
          </p:nvPr>
        </p:nvSpPr>
        <p:spPr>
          <a:xfrm>
            <a:off x="2089535" y="457200"/>
            <a:ext cx="48660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Trebuchet MS"/>
              <a:buNone/>
            </a:pPr>
            <a:r>
              <a:rPr b="1" lang="en" sz="2100"/>
              <a:t>Manipulación y Preparación de Datos</a:t>
            </a:r>
            <a:endParaRPr/>
          </a:p>
        </p:txBody>
      </p:sp>
      <p:sp>
        <p:nvSpPr>
          <p:cNvPr id="340" name="Google Shape;340;g39f6efa24e9_0_6"/>
          <p:cNvSpPr/>
          <p:nvPr/>
        </p:nvSpPr>
        <p:spPr>
          <a:xfrm>
            <a:off x="7202582" y="-6350"/>
            <a:ext cx="1942850" cy="5149850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1" name="Google Shape;341;g39f6efa24e9_0_6"/>
          <p:cNvSpPr/>
          <p:nvPr/>
        </p:nvSpPr>
        <p:spPr>
          <a:xfrm>
            <a:off x="6699250" y="2286000"/>
            <a:ext cx="2444700" cy="2857500"/>
          </a:xfrm>
          <a:prstGeom prst="triangle">
            <a:avLst>
              <a:gd fmla="val 100000" name="adj"/>
            </a:avLst>
          </a:prstGeom>
          <a:solidFill>
            <a:schemeClr val="accent2">
              <a:alpha val="7176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2" name="Google Shape;342;g39f6efa24e9_0_6"/>
          <p:cNvSpPr/>
          <p:nvPr/>
        </p:nvSpPr>
        <p:spPr>
          <a:xfrm>
            <a:off x="7000875" y="-6350"/>
            <a:ext cx="2143510" cy="5149850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67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3" name="Google Shape;343;g39f6efa24e9_0_6"/>
          <p:cNvSpPr/>
          <p:nvPr/>
        </p:nvSpPr>
        <p:spPr>
          <a:xfrm>
            <a:off x="8174048" y="-6350"/>
            <a:ext cx="967571" cy="5143500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4" name="Google Shape;344;g39f6efa24e9_0_6"/>
          <p:cNvSpPr/>
          <p:nvPr/>
        </p:nvSpPr>
        <p:spPr>
          <a:xfrm>
            <a:off x="8204249" y="-6350"/>
            <a:ext cx="937369" cy="5143500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709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5" name="Google Shape;345;g39f6efa24e9_0_6"/>
          <p:cNvSpPr/>
          <p:nvPr/>
        </p:nvSpPr>
        <p:spPr>
          <a:xfrm>
            <a:off x="7778750" y="2692400"/>
            <a:ext cx="1362900" cy="2451000"/>
          </a:xfrm>
          <a:prstGeom prst="triangle">
            <a:avLst>
              <a:gd fmla="val 100000" name="adj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6" name="Google Shape;346;g39f6efa24e9_0_6"/>
          <p:cNvSpPr txBox="1"/>
          <p:nvPr/>
        </p:nvSpPr>
        <p:spPr>
          <a:xfrm>
            <a:off x="2080850" y="818375"/>
            <a:ext cx="46875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lang="en" sz="12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Garantizar Datos Confiables</a:t>
            </a:r>
            <a:endParaRPr sz="12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7" name="Google Shape;347;g39f6efa24e9_0_6"/>
          <p:cNvSpPr txBox="1"/>
          <p:nvPr>
            <p:ph idx="2" type="body"/>
          </p:nvPr>
        </p:nvSpPr>
        <p:spPr>
          <a:xfrm>
            <a:off x="2075125" y="1236525"/>
            <a:ext cx="4866000" cy="3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Fase 1: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b="1" lang="en" sz="1200"/>
              <a:t>Corrección de datos inconsistentes.</a:t>
            </a:r>
            <a:endParaRPr sz="15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b="1" lang="en" sz="1200"/>
              <a:t>Estandarización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b="1" lang="en" sz="1200"/>
              <a:t>Corrección de formatos.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b="1" lang="en" sz="1200"/>
              <a:t>Control de versiones (DVC).</a:t>
            </a:r>
            <a:endParaRPr b="1" sz="1200"/>
          </a:p>
          <a:p>
            <a:pPr indent="0" lvl="1" marL="0" rtl="0" algn="l">
              <a:spcBef>
                <a:spcPts val="80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b="1" lang="en" sz="1200"/>
              <a:t>Fase 2: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b="1" lang="en" sz="1200"/>
              <a:t>Fase 1 + </a:t>
            </a:r>
            <a:endParaRPr sz="15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b="1" lang="en" sz="1200"/>
              <a:t>Estructuración de proyecto de DS (Cookiecutter).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b="1" lang="en" sz="1200"/>
              <a:t>Módulos y funciones con responsabilidades bien definidas.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b="1" lang="en" sz="1200"/>
              <a:t>Principios de programación orientada a objetos (oop).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b="1" lang="en" sz="1200"/>
              <a:t>Pipeline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b="1" lang="en" sz="1200"/>
              <a:t>Refactorización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Objetivo: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b="1" lang="en" sz="1200"/>
              <a:t>Automatización, eficiencia, legibilidad, escalabilidad y mantenimiento a largo plazo.</a:t>
            </a:r>
            <a:endParaRPr sz="150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oogle Shape;353;g39f6efa24e9_0_36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354" name="Google Shape;354;g39f6efa24e9_0_3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5" name="Google Shape;355;g39f6efa24e9_0_36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6" name="Google Shape;356;g39f6efa24e9_0_36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57" name="Google Shape;357;g39f6efa24e9_0_36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58" name="Google Shape;358;g39f6efa24e9_0_36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59" name="Google Shape;359;g39f6efa24e9_0_36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60" name="Google Shape;360;g39f6efa24e9_0_36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61" name="Google Shape;361;g39f6efa24e9_0_36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62" name="Google Shape;362;g39f6efa24e9_0_36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63" name="Google Shape;363;g39f6efa24e9_0_36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descr="Números y finanzas" id="364" name="Google Shape;364;g39f6efa24e9_0_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647" l="9090" r="0" t="21742"/>
          <a:stretch/>
        </p:blipFill>
        <p:spPr>
          <a:xfrm>
            <a:off x="1" y="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9f6efa24e9_0_36"/>
          <p:cNvSpPr/>
          <p:nvPr/>
        </p:nvSpPr>
        <p:spPr>
          <a:xfrm rot="10800000">
            <a:off x="147" y="115"/>
            <a:ext cx="631800" cy="4249500"/>
          </a:xfrm>
          <a:prstGeom prst="triangle">
            <a:avLst>
              <a:gd fmla="val 100000" name="adj"/>
            </a:avLst>
          </a:prstGeom>
          <a:solidFill>
            <a:schemeClr val="accent1">
              <a:alpha val="8471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6" name="Google Shape;366;g39f6efa24e9_0_36"/>
          <p:cNvSpPr/>
          <p:nvPr/>
        </p:nvSpPr>
        <p:spPr>
          <a:xfrm>
            <a:off x="1218141" y="0"/>
            <a:ext cx="7029600" cy="5143500"/>
          </a:xfrm>
          <a:prstGeom prst="parallelogram">
            <a:avLst>
              <a:gd fmla="val 14937" name="adj"/>
            </a:avLst>
          </a:prstGeom>
          <a:solidFill>
            <a:schemeClr val="lt1">
              <a:alpha val="937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67" name="Google Shape;367;g39f6efa24e9_0_36"/>
          <p:cNvCxnSpPr/>
          <p:nvPr/>
        </p:nvCxnSpPr>
        <p:spPr>
          <a:xfrm>
            <a:off x="7028259" y="0"/>
            <a:ext cx="914400" cy="5143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g39f6efa24e9_0_36"/>
          <p:cNvCxnSpPr/>
          <p:nvPr/>
        </p:nvCxnSpPr>
        <p:spPr>
          <a:xfrm flipH="1">
            <a:off x="5568919" y="2761060"/>
            <a:ext cx="3572700" cy="2382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g39f6efa24e9_0_36"/>
          <p:cNvSpPr/>
          <p:nvPr/>
        </p:nvSpPr>
        <p:spPr>
          <a:xfrm>
            <a:off x="6886107" y="-6350"/>
            <a:ext cx="2255512" cy="5149850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0" name="Google Shape;370;g39f6efa24e9_0_36"/>
          <p:cNvSpPr txBox="1"/>
          <p:nvPr>
            <p:ph type="title"/>
          </p:nvPr>
        </p:nvSpPr>
        <p:spPr>
          <a:xfrm>
            <a:off x="2089535" y="91259"/>
            <a:ext cx="48660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Trebuchet MS"/>
              <a:buNone/>
            </a:pPr>
            <a:r>
              <a:rPr b="1" lang="en" sz="2100"/>
              <a:t>Manipulación y Preparación de Datos</a:t>
            </a:r>
            <a:endParaRPr/>
          </a:p>
        </p:txBody>
      </p:sp>
      <p:sp>
        <p:nvSpPr>
          <p:cNvPr id="371" name="Google Shape;371;g39f6efa24e9_0_36"/>
          <p:cNvSpPr/>
          <p:nvPr/>
        </p:nvSpPr>
        <p:spPr>
          <a:xfrm>
            <a:off x="7202582" y="-6350"/>
            <a:ext cx="1942850" cy="5149850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2" name="Google Shape;372;g39f6efa24e9_0_36"/>
          <p:cNvSpPr/>
          <p:nvPr/>
        </p:nvSpPr>
        <p:spPr>
          <a:xfrm>
            <a:off x="6699250" y="2286000"/>
            <a:ext cx="2444700" cy="2857500"/>
          </a:xfrm>
          <a:prstGeom prst="triangle">
            <a:avLst>
              <a:gd fmla="val 100000" name="adj"/>
            </a:avLst>
          </a:prstGeom>
          <a:solidFill>
            <a:schemeClr val="accent2">
              <a:alpha val="7176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3" name="Google Shape;373;g39f6efa24e9_0_36"/>
          <p:cNvSpPr/>
          <p:nvPr/>
        </p:nvSpPr>
        <p:spPr>
          <a:xfrm>
            <a:off x="7000875" y="-6350"/>
            <a:ext cx="2143510" cy="5149850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67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4" name="Google Shape;374;g39f6efa24e9_0_36"/>
          <p:cNvSpPr/>
          <p:nvPr/>
        </p:nvSpPr>
        <p:spPr>
          <a:xfrm>
            <a:off x="8174048" y="-6350"/>
            <a:ext cx="967571" cy="5143500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5" name="Google Shape;375;g39f6efa24e9_0_36"/>
          <p:cNvSpPr/>
          <p:nvPr/>
        </p:nvSpPr>
        <p:spPr>
          <a:xfrm>
            <a:off x="8204249" y="-6350"/>
            <a:ext cx="937369" cy="5143500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709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6" name="Google Shape;376;g39f6efa24e9_0_36"/>
          <p:cNvSpPr/>
          <p:nvPr/>
        </p:nvSpPr>
        <p:spPr>
          <a:xfrm>
            <a:off x="7778750" y="2692400"/>
            <a:ext cx="1362900" cy="2451000"/>
          </a:xfrm>
          <a:prstGeom prst="triangle">
            <a:avLst>
              <a:gd fmla="val 100000" name="adj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7" name="Google Shape;377;g39f6efa24e9_0_36" title="Captura de pantalla 2025-10-12 a la(s) 8.43.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4040" y="834667"/>
            <a:ext cx="4977549" cy="36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9f6efa24e9_0_36"/>
          <p:cNvSpPr txBox="1"/>
          <p:nvPr/>
        </p:nvSpPr>
        <p:spPr>
          <a:xfrm>
            <a:off x="2014050" y="583418"/>
            <a:ext cx="11481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b="1" lang="en" sz="10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Detalladamente:</a:t>
            </a:r>
            <a:endParaRPr sz="10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g39f6efa24e9_0_66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385" name="Google Shape;385;g39f6efa24e9_0_6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6" name="Google Shape;386;g39f6efa24e9_0_66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7" name="Google Shape;387;g39f6efa24e9_0_66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88" name="Google Shape;388;g39f6efa24e9_0_66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89" name="Google Shape;389;g39f6efa24e9_0_66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0" name="Google Shape;390;g39f6efa24e9_0_66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1" name="Google Shape;391;g39f6efa24e9_0_66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2" name="Google Shape;392;g39f6efa24e9_0_66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3" name="Google Shape;393;g39f6efa24e9_0_66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4" name="Google Shape;394;g39f6efa24e9_0_66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descr="Números y finanzas" id="395" name="Google Shape;395;g39f6efa24e9_0_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647" l="9090" r="0" t="21742"/>
          <a:stretch/>
        </p:blipFill>
        <p:spPr>
          <a:xfrm>
            <a:off x="1" y="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9f6efa24e9_0_66"/>
          <p:cNvSpPr/>
          <p:nvPr/>
        </p:nvSpPr>
        <p:spPr>
          <a:xfrm rot="10800000">
            <a:off x="147" y="115"/>
            <a:ext cx="631800" cy="4249500"/>
          </a:xfrm>
          <a:prstGeom prst="triangle">
            <a:avLst>
              <a:gd fmla="val 100000" name="adj"/>
            </a:avLst>
          </a:prstGeom>
          <a:solidFill>
            <a:schemeClr val="accent1">
              <a:alpha val="8471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7" name="Google Shape;397;g39f6efa24e9_0_66"/>
          <p:cNvSpPr/>
          <p:nvPr/>
        </p:nvSpPr>
        <p:spPr>
          <a:xfrm>
            <a:off x="1218141" y="0"/>
            <a:ext cx="7029600" cy="5143500"/>
          </a:xfrm>
          <a:prstGeom prst="parallelogram">
            <a:avLst>
              <a:gd fmla="val 14937" name="adj"/>
            </a:avLst>
          </a:prstGeom>
          <a:solidFill>
            <a:schemeClr val="lt1">
              <a:alpha val="937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98" name="Google Shape;398;g39f6efa24e9_0_66"/>
          <p:cNvCxnSpPr/>
          <p:nvPr/>
        </p:nvCxnSpPr>
        <p:spPr>
          <a:xfrm>
            <a:off x="7028259" y="0"/>
            <a:ext cx="914400" cy="5143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g39f6efa24e9_0_66"/>
          <p:cNvCxnSpPr/>
          <p:nvPr/>
        </p:nvCxnSpPr>
        <p:spPr>
          <a:xfrm flipH="1">
            <a:off x="5568919" y="2761060"/>
            <a:ext cx="3572700" cy="2382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g39f6efa24e9_0_66"/>
          <p:cNvSpPr/>
          <p:nvPr/>
        </p:nvSpPr>
        <p:spPr>
          <a:xfrm>
            <a:off x="6886107" y="-6350"/>
            <a:ext cx="2255512" cy="5149850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1" name="Google Shape;401;g39f6efa24e9_0_66"/>
          <p:cNvSpPr txBox="1"/>
          <p:nvPr>
            <p:ph type="title"/>
          </p:nvPr>
        </p:nvSpPr>
        <p:spPr>
          <a:xfrm>
            <a:off x="2089535" y="91259"/>
            <a:ext cx="48660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Trebuchet MS"/>
              <a:buNone/>
            </a:pPr>
            <a:r>
              <a:rPr b="1" lang="en" sz="2100"/>
              <a:t>Manipulación y Preparación de Datos</a:t>
            </a:r>
            <a:endParaRPr/>
          </a:p>
        </p:txBody>
      </p:sp>
      <p:sp>
        <p:nvSpPr>
          <p:cNvPr id="402" name="Google Shape;402;g39f6efa24e9_0_66"/>
          <p:cNvSpPr/>
          <p:nvPr/>
        </p:nvSpPr>
        <p:spPr>
          <a:xfrm>
            <a:off x="7202582" y="-6350"/>
            <a:ext cx="1942850" cy="5149850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3" name="Google Shape;403;g39f6efa24e9_0_66"/>
          <p:cNvSpPr/>
          <p:nvPr/>
        </p:nvSpPr>
        <p:spPr>
          <a:xfrm>
            <a:off x="6699250" y="2286000"/>
            <a:ext cx="2444700" cy="2857500"/>
          </a:xfrm>
          <a:prstGeom prst="triangle">
            <a:avLst>
              <a:gd fmla="val 100000" name="adj"/>
            </a:avLst>
          </a:prstGeom>
          <a:solidFill>
            <a:schemeClr val="accent2">
              <a:alpha val="7176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" name="Google Shape;404;g39f6efa24e9_0_66"/>
          <p:cNvSpPr/>
          <p:nvPr/>
        </p:nvSpPr>
        <p:spPr>
          <a:xfrm>
            <a:off x="7000875" y="-6350"/>
            <a:ext cx="2143510" cy="5149850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67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5" name="Google Shape;405;g39f6efa24e9_0_66"/>
          <p:cNvSpPr/>
          <p:nvPr/>
        </p:nvSpPr>
        <p:spPr>
          <a:xfrm>
            <a:off x="8174048" y="-6350"/>
            <a:ext cx="967571" cy="5143500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6" name="Google Shape;406;g39f6efa24e9_0_66"/>
          <p:cNvSpPr/>
          <p:nvPr/>
        </p:nvSpPr>
        <p:spPr>
          <a:xfrm>
            <a:off x="8204249" y="-6350"/>
            <a:ext cx="937369" cy="5143500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709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7" name="Google Shape;407;g39f6efa24e9_0_66"/>
          <p:cNvSpPr/>
          <p:nvPr/>
        </p:nvSpPr>
        <p:spPr>
          <a:xfrm>
            <a:off x="7778750" y="2692400"/>
            <a:ext cx="1362900" cy="2451000"/>
          </a:xfrm>
          <a:prstGeom prst="triangle">
            <a:avLst>
              <a:gd fmla="val 100000" name="adj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8" name="Google Shape;408;g39f6efa24e9_0_66" title="Captura de pantalla 2025-10-31 a la(s) 16.30.13.png"/>
          <p:cNvPicPr preferRelativeResize="0"/>
          <p:nvPr/>
        </p:nvPicPr>
        <p:blipFill rotWithShape="1">
          <a:blip r:embed="rId4">
            <a:alphaModFix/>
          </a:blip>
          <a:srcRect b="3825" l="0" r="0" t="5315"/>
          <a:stretch/>
        </p:blipFill>
        <p:spPr>
          <a:xfrm>
            <a:off x="2916850" y="601214"/>
            <a:ext cx="3063397" cy="245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g39f6efa24e9_0_66" title="Captura de pantalla 2025-10-31 a la(s) 16.34.57.png"/>
          <p:cNvPicPr preferRelativeResize="0"/>
          <p:nvPr/>
        </p:nvPicPr>
        <p:blipFill rotWithShape="1">
          <a:blip r:embed="rId5">
            <a:alphaModFix/>
          </a:blip>
          <a:srcRect b="11831" l="500" r="35322" t="14127"/>
          <a:stretch/>
        </p:blipFill>
        <p:spPr>
          <a:xfrm>
            <a:off x="2916850" y="3180971"/>
            <a:ext cx="3063400" cy="150394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9f6efa24e9_0_66"/>
          <p:cNvSpPr txBox="1"/>
          <p:nvPr/>
        </p:nvSpPr>
        <p:spPr>
          <a:xfrm>
            <a:off x="1336950" y="4710975"/>
            <a:ext cx="6223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b="1" lang="en"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Scripts Manipulación y Preparación de Datos: </a:t>
            </a:r>
            <a:endParaRPr sz="8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b="1" lang="en"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- </a:t>
            </a:r>
            <a:r>
              <a:rPr b="1" lang="en" sz="800" u="sng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</a:t>
            </a:r>
            <a:r>
              <a:rPr b="1" lang="en" sz="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6"/>
              </a:rPr>
              <a:t>eatures.py</a:t>
            </a:r>
            <a:r>
              <a:rPr b="1" lang="en"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lang="en"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" sz="800">
                <a:solidFill>
                  <a:schemeClr val="hlink"/>
                </a:solidFill>
                <a:uFill>
                  <a:noFill/>
                </a:uFill>
                <a:latin typeface="Trebuchet MS"/>
                <a:ea typeface="Trebuchet MS"/>
                <a:cs typeface="Trebuchet MS"/>
                <a:sym typeface="Trebuchet MS"/>
                <a:hlinkClick r:id="rId7"/>
              </a:rPr>
              <a:t>https://github.com/Equipo59/absenteeism_at_work/blob/master/absenteeism_at_work/features.py</a:t>
            </a:r>
            <a:endParaRPr sz="8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b="1" lang="en"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- </a:t>
            </a:r>
            <a:r>
              <a:rPr b="1" lang="en" sz="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8"/>
              </a:rPr>
              <a:t>dataset.py</a:t>
            </a:r>
            <a:r>
              <a:rPr b="1" lang="en"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lang="en"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https://github.com/Equipo59/absenteeism_at_work/blob/master/absenteeism_at_work/dataset.py</a:t>
            </a:r>
            <a:endParaRPr sz="8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oogle Shape;416;g39f6efa24e9_0_97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417" name="Google Shape;417;g39f6efa24e9_0_97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g39f6efa24e9_0_97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9" name="Google Shape;419;g39f6efa24e9_0_97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20" name="Google Shape;420;g39f6efa24e9_0_97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21" name="Google Shape;421;g39f6efa24e9_0_97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22" name="Google Shape;422;g39f6efa24e9_0_97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23" name="Google Shape;423;g39f6efa24e9_0_97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24" name="Google Shape;424;g39f6efa24e9_0_97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25" name="Google Shape;425;g39f6efa24e9_0_97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26" name="Google Shape;426;g39f6efa24e9_0_97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descr="Números y finanzas" id="427" name="Google Shape;427;g39f6efa24e9_0_9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647" l="9090" r="0" t="21742"/>
          <a:stretch/>
        </p:blipFill>
        <p:spPr>
          <a:xfrm>
            <a:off x="1" y="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39f6efa24e9_0_97"/>
          <p:cNvSpPr/>
          <p:nvPr/>
        </p:nvSpPr>
        <p:spPr>
          <a:xfrm rot="10800000">
            <a:off x="147" y="115"/>
            <a:ext cx="631800" cy="4249500"/>
          </a:xfrm>
          <a:prstGeom prst="triangle">
            <a:avLst>
              <a:gd fmla="val 100000" name="adj"/>
            </a:avLst>
          </a:prstGeom>
          <a:solidFill>
            <a:schemeClr val="accent1">
              <a:alpha val="8471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9" name="Google Shape;429;g39f6efa24e9_0_97"/>
          <p:cNvSpPr/>
          <p:nvPr/>
        </p:nvSpPr>
        <p:spPr>
          <a:xfrm>
            <a:off x="1218141" y="0"/>
            <a:ext cx="7029600" cy="5143500"/>
          </a:xfrm>
          <a:prstGeom prst="parallelogram">
            <a:avLst>
              <a:gd fmla="val 14937" name="adj"/>
            </a:avLst>
          </a:prstGeom>
          <a:solidFill>
            <a:schemeClr val="lt1">
              <a:alpha val="937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30" name="Google Shape;430;g39f6efa24e9_0_97"/>
          <p:cNvCxnSpPr/>
          <p:nvPr/>
        </p:nvCxnSpPr>
        <p:spPr>
          <a:xfrm>
            <a:off x="7028259" y="0"/>
            <a:ext cx="914400" cy="5143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g39f6efa24e9_0_97"/>
          <p:cNvCxnSpPr/>
          <p:nvPr/>
        </p:nvCxnSpPr>
        <p:spPr>
          <a:xfrm flipH="1">
            <a:off x="5568919" y="2761060"/>
            <a:ext cx="3572700" cy="2382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g39f6efa24e9_0_97"/>
          <p:cNvSpPr/>
          <p:nvPr/>
        </p:nvSpPr>
        <p:spPr>
          <a:xfrm>
            <a:off x="6886107" y="-6350"/>
            <a:ext cx="2255512" cy="5149850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3" name="Google Shape;433;g39f6efa24e9_0_97"/>
          <p:cNvSpPr txBox="1"/>
          <p:nvPr>
            <p:ph type="title"/>
          </p:nvPr>
        </p:nvSpPr>
        <p:spPr>
          <a:xfrm>
            <a:off x="2089535" y="91259"/>
            <a:ext cx="48660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Trebuchet MS"/>
              <a:buNone/>
            </a:pPr>
            <a:r>
              <a:rPr b="1" lang="en" sz="2100"/>
              <a:t>Manipulación y Preparación de Datos</a:t>
            </a:r>
            <a:endParaRPr/>
          </a:p>
        </p:txBody>
      </p:sp>
      <p:sp>
        <p:nvSpPr>
          <p:cNvPr id="434" name="Google Shape;434;g39f6efa24e9_0_97"/>
          <p:cNvSpPr/>
          <p:nvPr/>
        </p:nvSpPr>
        <p:spPr>
          <a:xfrm>
            <a:off x="7202582" y="-6350"/>
            <a:ext cx="1942850" cy="5149850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5" name="Google Shape;435;g39f6efa24e9_0_97"/>
          <p:cNvSpPr/>
          <p:nvPr/>
        </p:nvSpPr>
        <p:spPr>
          <a:xfrm>
            <a:off x="6699250" y="2286000"/>
            <a:ext cx="2444700" cy="2857500"/>
          </a:xfrm>
          <a:prstGeom prst="triangle">
            <a:avLst>
              <a:gd fmla="val 100000" name="adj"/>
            </a:avLst>
          </a:prstGeom>
          <a:solidFill>
            <a:schemeClr val="accent2">
              <a:alpha val="7176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6" name="Google Shape;436;g39f6efa24e9_0_97"/>
          <p:cNvSpPr/>
          <p:nvPr/>
        </p:nvSpPr>
        <p:spPr>
          <a:xfrm>
            <a:off x="7000875" y="-6350"/>
            <a:ext cx="2143510" cy="5149850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67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7" name="Google Shape;437;g39f6efa24e9_0_97"/>
          <p:cNvSpPr/>
          <p:nvPr/>
        </p:nvSpPr>
        <p:spPr>
          <a:xfrm>
            <a:off x="8174048" y="-6350"/>
            <a:ext cx="967571" cy="5143500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8" name="Google Shape;438;g39f6efa24e9_0_97"/>
          <p:cNvSpPr/>
          <p:nvPr/>
        </p:nvSpPr>
        <p:spPr>
          <a:xfrm>
            <a:off x="8204249" y="-6350"/>
            <a:ext cx="937369" cy="5143500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709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9" name="Google Shape;439;g39f6efa24e9_0_97"/>
          <p:cNvSpPr/>
          <p:nvPr/>
        </p:nvSpPr>
        <p:spPr>
          <a:xfrm>
            <a:off x="7778750" y="2692400"/>
            <a:ext cx="1362900" cy="2451000"/>
          </a:xfrm>
          <a:prstGeom prst="triangle">
            <a:avLst>
              <a:gd fmla="val 100000" name="adj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0" name="Google Shape;440;g39f6efa24e9_0_97"/>
          <p:cNvSpPr txBox="1"/>
          <p:nvPr/>
        </p:nvSpPr>
        <p:spPr>
          <a:xfrm>
            <a:off x="1336950" y="4710975"/>
            <a:ext cx="6223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b="1" lang="en"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README and Project Organization: </a:t>
            </a:r>
            <a:endParaRPr sz="8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lang="en"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https://github.com/Equipo59/absenteeism_at_work</a:t>
            </a:r>
            <a:endParaRPr sz="8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41" name="Google Shape;441;g39f6efa24e9_0_97" title="Captura de pantalla 2025-10-31 a la(s) 17.09.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4650" y="571900"/>
            <a:ext cx="3707802" cy="330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g39f6efa24e9_0_97" title="Captura de pantalla 2025-10-31 a la(s) 16.37.5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3275" y="3998988"/>
            <a:ext cx="1810574" cy="6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14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449" name="Google Shape;449;p1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1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1" name="Google Shape;451;p14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55" name="Google Shape;455;p14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459" name="Google Shape;459;p14"/>
          <p:cNvSpPr txBox="1"/>
          <p:nvPr>
            <p:ph type="title"/>
          </p:nvPr>
        </p:nvSpPr>
        <p:spPr>
          <a:xfrm>
            <a:off x="3059401" y="392300"/>
            <a:ext cx="40248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Aplicación de Mejores Prácticas en el Pipeline de Modelado</a:t>
            </a:r>
            <a:endParaRPr/>
          </a:p>
        </p:txBody>
      </p:sp>
      <p:sp>
        <p:nvSpPr>
          <p:cNvPr id="460" name="Google Shape;460;p14"/>
          <p:cNvSpPr txBox="1"/>
          <p:nvPr>
            <p:ph idx="2" type="body"/>
          </p:nvPr>
        </p:nvSpPr>
        <p:spPr>
          <a:xfrm>
            <a:off x="3113791" y="1541458"/>
            <a:ext cx="43218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implementó un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 controlado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entrenamiento y validación, incorporando buenas prácticas como manejo de parámetros, registro de métricas y control de versiones de modelos. Esto aseguró reproducibilidad y permitió comparar configuraciones sin depender de ejecuciones manuales.</a:t>
            </a:r>
            <a:endParaRPr sz="1100"/>
          </a:p>
          <a:p>
            <a:pPr indent="0" lvl="1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t/>
            </a:r>
            <a:endParaRPr sz="1100"/>
          </a:p>
          <a:p>
            <a:pPr indent="0" lvl="1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t/>
            </a:r>
            <a:endParaRPr sz="1100"/>
          </a:p>
        </p:txBody>
      </p:sp>
      <p:pic>
        <p:nvPicPr>
          <p:cNvPr descr="Archivos sobre fondo digital" id="461" name="Google Shape;461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2" l="33207" r="19196" t="0"/>
          <a:stretch/>
        </p:blipFill>
        <p:spPr>
          <a:xfrm>
            <a:off x="68576" y="0"/>
            <a:ext cx="28089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4"/>
          <p:cNvSpPr/>
          <p:nvPr/>
        </p:nvSpPr>
        <p:spPr>
          <a:xfrm rot="10800000">
            <a:off x="0" y="0"/>
            <a:ext cx="631947" cy="4249616"/>
          </a:xfrm>
          <a:prstGeom prst="triangle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3" name="Google Shape;463;p14"/>
          <p:cNvSpPr txBox="1"/>
          <p:nvPr/>
        </p:nvSpPr>
        <p:spPr>
          <a:xfrm>
            <a:off x="3113801" y="1045598"/>
            <a:ext cx="40941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lang="en" sz="12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Automatizando la ciencia de datos con orden y consistencia</a:t>
            </a:r>
            <a:endParaRPr b="0" i="0" sz="12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64" name="Google Shape;4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9612" y="2526250"/>
            <a:ext cx="1944776" cy="245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g39f59254beb_0_284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471" name="Google Shape;471;g39f59254beb_0_28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" name="Google Shape;472;g39f59254beb_0_284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3" name="Google Shape;473;g39f59254beb_0_284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74" name="Google Shape;474;g39f59254beb_0_284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75" name="Google Shape;475;g39f59254beb_0_284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76" name="Google Shape;476;g39f59254beb_0_284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77" name="Google Shape;477;g39f59254beb_0_284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78" name="Google Shape;478;g39f59254beb_0_284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79" name="Google Shape;479;g39f59254beb_0_284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80" name="Google Shape;480;g39f59254beb_0_284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481" name="Google Shape;481;g39f59254beb_0_284"/>
          <p:cNvSpPr/>
          <p:nvPr/>
        </p:nvSpPr>
        <p:spPr>
          <a:xfrm rot="10800000">
            <a:off x="147" y="116"/>
            <a:ext cx="631800" cy="4249500"/>
          </a:xfrm>
          <a:prstGeom prst="triangle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82" name="Google Shape;482;g39f59254beb_0_284" title="Amazon-Web-Services-Emble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275" y="1183800"/>
            <a:ext cx="1356488" cy="76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9f59254beb_0_284" title="github-actions-guia-completa-para-automatizar-flujos-de-trabajo-1024x5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50" y="1183804"/>
            <a:ext cx="1452324" cy="76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g39f59254beb_0_284"/>
          <p:cNvSpPr txBox="1"/>
          <p:nvPr>
            <p:ph type="title"/>
          </p:nvPr>
        </p:nvSpPr>
        <p:spPr>
          <a:xfrm>
            <a:off x="508000" y="457201"/>
            <a:ext cx="38763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CI/CD &amp; Infrastructure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t/>
            </a:r>
            <a:endParaRPr b="1" sz="2100"/>
          </a:p>
        </p:txBody>
      </p:sp>
      <p:sp>
        <p:nvSpPr>
          <p:cNvPr id="485" name="Google Shape;485;g39f59254beb_0_284"/>
          <p:cNvSpPr txBox="1"/>
          <p:nvPr>
            <p:ph idx="2" type="body"/>
          </p:nvPr>
        </p:nvSpPr>
        <p:spPr>
          <a:xfrm>
            <a:off x="2023875" y="1389813"/>
            <a:ext cx="2994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1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1" sz="2000"/>
          </a:p>
        </p:txBody>
      </p:sp>
      <p:sp>
        <p:nvSpPr>
          <p:cNvPr id="486" name="Google Shape;486;g39f59254beb_0_284"/>
          <p:cNvSpPr txBox="1"/>
          <p:nvPr/>
        </p:nvSpPr>
        <p:spPr>
          <a:xfrm>
            <a:off x="508000" y="808188"/>
            <a:ext cx="40641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lang="en" sz="12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Despliegue de modelo </a:t>
            </a:r>
            <a:endParaRPr b="0" i="0" sz="12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87" name="Google Shape;487;g39f59254beb_0_284" title="Screenshot 2025-11-01 at 10.31.41 a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950" y="2196363"/>
            <a:ext cx="4477501" cy="26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g39f59254beb_0_284" title="Screenshot 2025-11-01 at 10.32.52 a.m.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1100" y="457200"/>
            <a:ext cx="3430142" cy="453155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g39f59254beb_0_284"/>
          <p:cNvSpPr txBox="1"/>
          <p:nvPr/>
        </p:nvSpPr>
        <p:spPr>
          <a:xfrm>
            <a:off x="571550" y="1966025"/>
            <a:ext cx="3000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1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Load balancer + ECS Fargate Service</a:t>
            </a:r>
            <a:endParaRPr/>
          </a:p>
        </p:txBody>
      </p:sp>
      <p:pic>
        <p:nvPicPr>
          <p:cNvPr id="490" name="Google Shape;490;g39f59254beb_0_284" title="Docker-Logo-201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1315" y="1315475"/>
            <a:ext cx="888243" cy="499674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g39f59254beb_0_284"/>
          <p:cNvSpPr txBox="1"/>
          <p:nvPr>
            <p:ph idx="2" type="body"/>
          </p:nvPr>
        </p:nvSpPr>
        <p:spPr>
          <a:xfrm>
            <a:off x="3730363" y="1389813"/>
            <a:ext cx="2994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1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1" sz="2000"/>
          </a:p>
        </p:txBody>
      </p:sp>
      <p:sp>
        <p:nvSpPr>
          <p:cNvPr id="492" name="Google Shape;492;g39f59254beb_0_284"/>
          <p:cNvSpPr txBox="1"/>
          <p:nvPr/>
        </p:nvSpPr>
        <p:spPr>
          <a:xfrm>
            <a:off x="150" y="4804875"/>
            <a:ext cx="337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2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Software Engineer:</a:t>
            </a:r>
            <a:r>
              <a:rPr lang="en" sz="1000">
                <a:solidFill>
                  <a:schemeClr val="accent2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 Carlos Pano</a:t>
            </a:r>
            <a:endParaRPr sz="1000">
              <a:solidFill>
                <a:schemeClr val="accent2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g39f59254beb_0_311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499" name="Google Shape;499;g39f59254beb_0_31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0" name="Google Shape;500;g39f59254beb_0_311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1" name="Google Shape;501;g39f59254beb_0_31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2" name="Google Shape;502;g39f59254beb_0_311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3" name="Google Shape;503;g39f59254beb_0_311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4" name="Google Shape;504;g39f59254beb_0_311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5" name="Google Shape;505;g39f59254beb_0_311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6" name="Google Shape;506;g39f59254beb_0_311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7" name="Google Shape;507;g39f59254beb_0_311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8" name="Google Shape;508;g39f59254beb_0_311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509" name="Google Shape;509;g39f59254beb_0_311"/>
          <p:cNvSpPr/>
          <p:nvPr/>
        </p:nvSpPr>
        <p:spPr>
          <a:xfrm rot="10800000">
            <a:off x="147" y="116"/>
            <a:ext cx="631800" cy="4249500"/>
          </a:xfrm>
          <a:prstGeom prst="triangle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0" name="Google Shape;510;g39f59254beb_0_311"/>
          <p:cNvSpPr txBox="1"/>
          <p:nvPr>
            <p:ph type="title"/>
          </p:nvPr>
        </p:nvSpPr>
        <p:spPr>
          <a:xfrm>
            <a:off x="508000" y="457200"/>
            <a:ext cx="76392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CI/CD &amp; Infrastructure: Serving layer and model</a:t>
            </a:r>
            <a:endParaRPr b="1" sz="2100"/>
          </a:p>
        </p:txBody>
      </p:sp>
      <p:sp>
        <p:nvSpPr>
          <p:cNvPr id="511" name="Google Shape;511;g39f59254beb_0_311"/>
          <p:cNvSpPr txBox="1"/>
          <p:nvPr/>
        </p:nvSpPr>
        <p:spPr>
          <a:xfrm>
            <a:off x="508000" y="808188"/>
            <a:ext cx="40641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lang="en" sz="12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Interfaz gráfica del modelo.</a:t>
            </a:r>
            <a:endParaRPr b="0" i="0" sz="12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12" name="Google Shape;512;g39f59254beb_0_311" title="Screenshot 2025-11-01 at 10.31.41 a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1183800"/>
            <a:ext cx="2849076" cy="169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g39f59254beb_0_311"/>
          <p:cNvSpPr txBox="1"/>
          <p:nvPr/>
        </p:nvSpPr>
        <p:spPr>
          <a:xfrm>
            <a:off x="508000" y="4527975"/>
            <a:ext cx="568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http://production-alb-1418263701.us-east-1.elb.amazonaws.com/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4" name="Google Shape;514;g39f59254beb_0_311" title="Screenshot 2025-11-01 at 10.33.59 a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8625" y="1183800"/>
            <a:ext cx="5639001" cy="2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g39f59254beb_0_311" title="Screenshot 2025-11-01 at 10.40.28 a.m.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000" y="2951200"/>
            <a:ext cx="2849075" cy="129203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6" name="Google Shape;516;g39f59254beb_0_311" title="Screenshot 2025-11-01 at 10.41.04 a.m.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08625" y="3297775"/>
            <a:ext cx="5638999" cy="86509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7" name="Google Shape;517;g39f59254beb_0_311" title="logo-teal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62550" y="2832050"/>
            <a:ext cx="974013" cy="350998"/>
          </a:xfrm>
          <a:prstGeom prst="rect">
            <a:avLst/>
          </a:prstGeom>
          <a:noFill/>
          <a:ln cap="flat" cmpd="sng" w="11050">
            <a:solidFill>
              <a:srgbClr val="EEF4E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8" name="Google Shape;518;g39f59254beb_0_311" title="Amazon-Web-Services-Emble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42061" y="2835394"/>
            <a:ext cx="612127" cy="344321"/>
          </a:xfrm>
          <a:prstGeom prst="rect">
            <a:avLst/>
          </a:prstGeom>
          <a:noFill/>
          <a:ln cap="flat" cmpd="sng" w="11050">
            <a:solidFill>
              <a:srgbClr val="EEF4E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9" name="Google Shape;519;g39f59254beb_0_311" title="Docker-Logo-2013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59667" y="2832050"/>
            <a:ext cx="612106" cy="344330"/>
          </a:xfrm>
          <a:prstGeom prst="rect">
            <a:avLst/>
          </a:prstGeom>
          <a:noFill/>
          <a:ln cap="flat" cmpd="sng" w="11050">
            <a:solidFill>
              <a:srgbClr val="EEF4E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0" name="Google Shape;520;g39f59254beb_0_311"/>
          <p:cNvSpPr txBox="1"/>
          <p:nvPr/>
        </p:nvSpPr>
        <p:spPr>
          <a:xfrm>
            <a:off x="150" y="4804875"/>
            <a:ext cx="337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2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Software Engineer:</a:t>
            </a:r>
            <a:r>
              <a:rPr lang="en" sz="1000">
                <a:solidFill>
                  <a:schemeClr val="accent2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 Carlos Pano</a:t>
            </a:r>
            <a:endParaRPr sz="1000">
              <a:solidFill>
                <a:schemeClr val="accent2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g39f59254beb_0_337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527" name="Google Shape;527;g39f59254beb_0_337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8" name="Google Shape;528;g39f59254beb_0_337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9" name="Google Shape;529;g39f59254beb_0_337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0" name="Google Shape;530;g39f59254beb_0_337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1" name="Google Shape;531;g39f59254beb_0_337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2" name="Google Shape;532;g39f59254beb_0_337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3" name="Google Shape;533;g39f59254beb_0_337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4" name="Google Shape;534;g39f59254beb_0_337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5" name="Google Shape;535;g39f59254beb_0_337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6" name="Google Shape;536;g39f59254beb_0_337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537" name="Google Shape;537;g39f59254beb_0_337"/>
          <p:cNvSpPr/>
          <p:nvPr/>
        </p:nvSpPr>
        <p:spPr>
          <a:xfrm rot="10800000">
            <a:off x="147" y="116"/>
            <a:ext cx="631800" cy="4249500"/>
          </a:xfrm>
          <a:prstGeom prst="triangle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8" name="Google Shape;538;g39f59254beb_0_337"/>
          <p:cNvSpPr txBox="1"/>
          <p:nvPr>
            <p:ph type="title"/>
          </p:nvPr>
        </p:nvSpPr>
        <p:spPr>
          <a:xfrm>
            <a:off x="631950" y="457200"/>
            <a:ext cx="76392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CI/CD &amp; Infrastructure: Serving layer and model</a:t>
            </a:r>
            <a:endParaRPr b="1" sz="2100"/>
          </a:p>
        </p:txBody>
      </p:sp>
      <p:sp>
        <p:nvSpPr>
          <p:cNvPr id="539" name="Google Shape;539;g39f59254beb_0_337"/>
          <p:cNvSpPr txBox="1"/>
          <p:nvPr/>
        </p:nvSpPr>
        <p:spPr>
          <a:xfrm>
            <a:off x="631950" y="808188"/>
            <a:ext cx="40641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lang="en" sz="12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Interfaz gráfica del modelo.</a:t>
            </a:r>
            <a:endParaRPr b="0" i="0" sz="12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0" name="Google Shape;540;g39f59254beb_0_337"/>
          <p:cNvSpPr txBox="1"/>
          <p:nvPr/>
        </p:nvSpPr>
        <p:spPr>
          <a:xfrm>
            <a:off x="508000" y="4527975"/>
            <a:ext cx="568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http://production-alb-1418263701.us-east-1.elb.amazonaws.com/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1" name="Google Shape;541;g39f59254beb_0_337" title="Screenshot 2025-11-01 at 10.37.32 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100" y="1319963"/>
            <a:ext cx="3589977" cy="307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g39f59254beb_0_337" title="Screenshot 2025-11-01 at 10.38.12 a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7775" y="1319973"/>
            <a:ext cx="3025366" cy="307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g39f59254beb_0_337" title="Screenshot 2025-11-01 at 10.38.35 a.m.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5500" y="1319985"/>
            <a:ext cx="1511750" cy="76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39f59254beb_0_337" title="Screenshot 2025-11-01 at 10.59.25 a.m.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6737" y="1319975"/>
            <a:ext cx="3628644" cy="30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39f59254beb_0_337"/>
          <p:cNvSpPr txBox="1"/>
          <p:nvPr/>
        </p:nvSpPr>
        <p:spPr>
          <a:xfrm>
            <a:off x="150" y="4804875"/>
            <a:ext cx="337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2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Software Engineer:</a:t>
            </a:r>
            <a:r>
              <a:rPr lang="en" sz="1000">
                <a:solidFill>
                  <a:schemeClr val="accent2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 Carlos Pano</a:t>
            </a:r>
            <a:endParaRPr sz="1000">
              <a:solidFill>
                <a:schemeClr val="accent2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g39f59254beb_0_359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552" name="Google Shape;552;g39f59254beb_0_359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3" name="Google Shape;553;g39f59254beb_0_359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4" name="Google Shape;554;g39f59254beb_0_359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5" name="Google Shape;555;g39f59254beb_0_359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6" name="Google Shape;556;g39f59254beb_0_359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7" name="Google Shape;557;g39f59254beb_0_359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8" name="Google Shape;558;g39f59254beb_0_359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9" name="Google Shape;559;g39f59254beb_0_359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0" name="Google Shape;560;g39f59254beb_0_359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1" name="Google Shape;561;g39f59254beb_0_359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562" name="Google Shape;562;g39f59254beb_0_359"/>
          <p:cNvSpPr/>
          <p:nvPr/>
        </p:nvSpPr>
        <p:spPr>
          <a:xfrm rot="10800000">
            <a:off x="147" y="116"/>
            <a:ext cx="631800" cy="4249500"/>
          </a:xfrm>
          <a:prstGeom prst="triangle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3" name="Google Shape;563;g39f59254beb_0_359"/>
          <p:cNvSpPr txBox="1"/>
          <p:nvPr>
            <p:ph type="title"/>
          </p:nvPr>
        </p:nvSpPr>
        <p:spPr>
          <a:xfrm>
            <a:off x="631950" y="457200"/>
            <a:ext cx="76392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CI/CD &amp; Infrastructure: Serving layer and model</a:t>
            </a:r>
            <a:endParaRPr b="1" sz="2100"/>
          </a:p>
        </p:txBody>
      </p:sp>
      <p:sp>
        <p:nvSpPr>
          <p:cNvPr id="564" name="Google Shape;564;g39f59254beb_0_359"/>
          <p:cNvSpPr txBox="1"/>
          <p:nvPr/>
        </p:nvSpPr>
        <p:spPr>
          <a:xfrm>
            <a:off x="631950" y="808188"/>
            <a:ext cx="40641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lang="en" sz="12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API Docs</a:t>
            </a:r>
            <a:endParaRPr b="0" i="0" sz="12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5" name="Google Shape;565;g39f59254beb_0_359"/>
          <p:cNvSpPr txBox="1"/>
          <p:nvPr/>
        </p:nvSpPr>
        <p:spPr>
          <a:xfrm>
            <a:off x="508000" y="4527975"/>
            <a:ext cx="608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http://production-alb-1418263701.us-east-1.elb.amazonaws.com/docs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6" name="Google Shape;566;g39f59254beb_0_359" title="Screenshot 2025-11-01 at 10.38.35 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4825" y="1454835"/>
            <a:ext cx="1511750" cy="76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g39f59254beb_0_359" title="Screenshot 2025-11-01 at 10.44.51 a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513" y="1156700"/>
            <a:ext cx="2415766" cy="330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g39f59254beb_0_359" title="Screenshot 2025-11-01 at 10.45.12 a.m.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8210" y="1454825"/>
            <a:ext cx="3190701" cy="265654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g39f59254beb_0_359"/>
          <p:cNvSpPr txBox="1"/>
          <p:nvPr/>
        </p:nvSpPr>
        <p:spPr>
          <a:xfrm>
            <a:off x="150" y="4804875"/>
            <a:ext cx="337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2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Software Engineer:</a:t>
            </a:r>
            <a:r>
              <a:rPr lang="en" sz="1000">
                <a:solidFill>
                  <a:schemeClr val="accent2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 Carlos Pano</a:t>
            </a:r>
            <a:endParaRPr sz="1000">
              <a:solidFill>
                <a:schemeClr val="accent2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g39f34c83a37_0_38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576" name="Google Shape;576;g39f34c83a37_0_38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7" name="Google Shape;577;g39f34c83a37_0_38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8" name="Google Shape;578;g39f34c83a37_0_38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9" name="Google Shape;579;g39f34c83a37_0_38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0" name="Google Shape;580;g39f34c83a37_0_38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1" name="Google Shape;581;g39f34c83a37_0_38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2" name="Google Shape;582;g39f34c83a37_0_38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3" name="Google Shape;583;g39f34c83a37_0_38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4" name="Google Shape;584;g39f34c83a37_0_38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5" name="Google Shape;585;g39f34c83a37_0_38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586" name="Google Shape;586;g39f34c83a37_0_38"/>
          <p:cNvSpPr txBox="1"/>
          <p:nvPr>
            <p:ph type="title"/>
          </p:nvPr>
        </p:nvSpPr>
        <p:spPr>
          <a:xfrm>
            <a:off x="508000" y="457200"/>
            <a:ext cx="53172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S</a:t>
            </a:r>
            <a:r>
              <a:rPr b="1" lang="en" sz="2100"/>
              <a:t>eguimiento de Experimentos y Gestión de Modelos con MLflow</a:t>
            </a:r>
            <a:endParaRPr b="1" sz="2100"/>
          </a:p>
        </p:txBody>
      </p:sp>
      <p:sp>
        <p:nvSpPr>
          <p:cNvPr id="587" name="Google Shape;587;g39f34c83a37_0_38"/>
          <p:cNvSpPr txBox="1"/>
          <p:nvPr>
            <p:ph idx="2" type="body"/>
          </p:nvPr>
        </p:nvSpPr>
        <p:spPr>
          <a:xfrm>
            <a:off x="508000" y="1519050"/>
            <a:ext cx="67428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integró </a:t>
            </a: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MLflow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registrar métricas, hiperparámetros y versiones de modelos. La herramienta permitió visualizar resultados, identificar el mejor desempeño y gestionar modelos de forma centralizada, optimizando la toma de decisiones durante el desarrollo.</a:t>
            </a:r>
            <a:endParaRPr sz="1200"/>
          </a:p>
          <a:p>
            <a:pPr indent="0" lvl="1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g39f34c83a37_0_38"/>
          <p:cNvCxnSpPr/>
          <p:nvPr/>
        </p:nvCxnSpPr>
        <p:spPr>
          <a:xfrm>
            <a:off x="7028259" y="0"/>
            <a:ext cx="914400" cy="5143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9" name="Google Shape;589;g39f34c83a37_0_38"/>
          <p:cNvCxnSpPr/>
          <p:nvPr/>
        </p:nvCxnSpPr>
        <p:spPr>
          <a:xfrm flipH="1">
            <a:off x="5568919" y="2761060"/>
            <a:ext cx="3572700" cy="2382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g39f34c83a37_0_38"/>
          <p:cNvSpPr/>
          <p:nvPr/>
        </p:nvSpPr>
        <p:spPr>
          <a:xfrm>
            <a:off x="6886107" y="-6350"/>
            <a:ext cx="2255512" cy="5149850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409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1" name="Google Shape;591;g39f34c83a37_0_38"/>
          <p:cNvSpPr/>
          <p:nvPr/>
        </p:nvSpPr>
        <p:spPr>
          <a:xfrm>
            <a:off x="7202582" y="-6350"/>
            <a:ext cx="1942850" cy="5149850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2" name="Google Shape;592;g39f34c83a37_0_38"/>
          <p:cNvSpPr/>
          <p:nvPr/>
        </p:nvSpPr>
        <p:spPr>
          <a:xfrm>
            <a:off x="6699250" y="2286000"/>
            <a:ext cx="2444700" cy="2857500"/>
          </a:xfrm>
          <a:prstGeom prst="triangle">
            <a:avLst>
              <a:gd fmla="val 100000" name="adj"/>
            </a:avLst>
          </a:prstGeom>
          <a:solidFill>
            <a:schemeClr val="accent2">
              <a:alpha val="7137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3" name="Google Shape;593;g39f34c83a37_0_38"/>
          <p:cNvSpPr/>
          <p:nvPr/>
        </p:nvSpPr>
        <p:spPr>
          <a:xfrm>
            <a:off x="7000875" y="-6350"/>
            <a:ext cx="2143510" cy="5149850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27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4" name="Google Shape;594;g39f34c83a37_0_38"/>
          <p:cNvSpPr/>
          <p:nvPr/>
        </p:nvSpPr>
        <p:spPr>
          <a:xfrm>
            <a:off x="8174048" y="-6350"/>
            <a:ext cx="967571" cy="5143500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41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5" name="Google Shape;595;g39f34c83a37_0_38"/>
          <p:cNvSpPr/>
          <p:nvPr/>
        </p:nvSpPr>
        <p:spPr>
          <a:xfrm>
            <a:off x="8204249" y="-6350"/>
            <a:ext cx="937369" cy="5143500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31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6" name="Google Shape;596;g39f34c83a37_0_38"/>
          <p:cNvSpPr/>
          <p:nvPr/>
        </p:nvSpPr>
        <p:spPr>
          <a:xfrm>
            <a:off x="7778750" y="2692400"/>
            <a:ext cx="1362900" cy="2451000"/>
          </a:xfrm>
          <a:prstGeom prst="triangle">
            <a:avLst>
              <a:gd fmla="val 100000" name="adj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7" name="Google Shape;597;g39f34c83a37_0_38"/>
          <p:cNvSpPr txBox="1"/>
          <p:nvPr/>
        </p:nvSpPr>
        <p:spPr>
          <a:xfrm>
            <a:off x="508000" y="1078841"/>
            <a:ext cx="55335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lang="en" sz="12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 carpetas caóticas a una arquitectura profesional.</a:t>
            </a:r>
            <a:endParaRPr b="0" i="0" sz="12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98" name="Google Shape;598;g39f34c83a37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441" y="2338100"/>
            <a:ext cx="4939000" cy="26049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3500000" dist="209550">
              <a:srgbClr val="7F7F7F">
                <a:alpha val="26000"/>
              </a:srgbClr>
            </a:outerShdw>
          </a:effectLst>
        </p:spPr>
      </p:pic>
      <p:pic>
        <p:nvPicPr>
          <p:cNvPr id="599" name="Google Shape;599;g39f34c83a37_0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1200" y="2851174"/>
            <a:ext cx="4939000" cy="2202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g39f34c83a37_0_68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606" name="Google Shape;606;g39f34c83a37_0_68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7" name="Google Shape;607;g39f34c83a37_0_68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8" name="Google Shape;608;g39f34c83a37_0_68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09" name="Google Shape;609;g39f34c83a37_0_68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0" name="Google Shape;610;g39f34c83a37_0_68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1" name="Google Shape;611;g39f34c83a37_0_68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2" name="Google Shape;612;g39f34c83a37_0_68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3" name="Google Shape;613;g39f34c83a37_0_68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4" name="Google Shape;614;g39f34c83a37_0_68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5" name="Google Shape;615;g39f34c83a37_0_68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616" name="Google Shape;616;g39f34c83a37_0_68"/>
          <p:cNvSpPr txBox="1"/>
          <p:nvPr>
            <p:ph type="title"/>
          </p:nvPr>
        </p:nvSpPr>
        <p:spPr>
          <a:xfrm>
            <a:off x="508000" y="457200"/>
            <a:ext cx="53172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Panel MLFlow</a:t>
            </a:r>
            <a:endParaRPr b="1" sz="2100"/>
          </a:p>
        </p:txBody>
      </p:sp>
      <p:cxnSp>
        <p:nvCxnSpPr>
          <p:cNvPr id="617" name="Google Shape;617;g39f34c83a37_0_68"/>
          <p:cNvCxnSpPr/>
          <p:nvPr/>
        </p:nvCxnSpPr>
        <p:spPr>
          <a:xfrm>
            <a:off x="7028259" y="0"/>
            <a:ext cx="914400" cy="5143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g39f34c83a37_0_68"/>
          <p:cNvCxnSpPr/>
          <p:nvPr/>
        </p:nvCxnSpPr>
        <p:spPr>
          <a:xfrm flipH="1">
            <a:off x="5568919" y="2761060"/>
            <a:ext cx="3572700" cy="2382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g39f34c83a37_0_68"/>
          <p:cNvSpPr/>
          <p:nvPr/>
        </p:nvSpPr>
        <p:spPr>
          <a:xfrm>
            <a:off x="6886107" y="-6350"/>
            <a:ext cx="2255512" cy="5149850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409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0" name="Google Shape;620;g39f34c83a37_0_68"/>
          <p:cNvSpPr/>
          <p:nvPr/>
        </p:nvSpPr>
        <p:spPr>
          <a:xfrm>
            <a:off x="7202582" y="-6350"/>
            <a:ext cx="1942850" cy="5149850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1" name="Google Shape;621;g39f34c83a37_0_68"/>
          <p:cNvSpPr/>
          <p:nvPr/>
        </p:nvSpPr>
        <p:spPr>
          <a:xfrm>
            <a:off x="6699250" y="2286000"/>
            <a:ext cx="2444700" cy="2857500"/>
          </a:xfrm>
          <a:prstGeom prst="triangle">
            <a:avLst>
              <a:gd fmla="val 100000" name="adj"/>
            </a:avLst>
          </a:prstGeom>
          <a:solidFill>
            <a:schemeClr val="accent2">
              <a:alpha val="7137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2" name="Google Shape;622;g39f34c83a37_0_68"/>
          <p:cNvSpPr/>
          <p:nvPr/>
        </p:nvSpPr>
        <p:spPr>
          <a:xfrm>
            <a:off x="7000875" y="-6350"/>
            <a:ext cx="2143510" cy="5149850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27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3" name="Google Shape;623;g39f34c83a37_0_68"/>
          <p:cNvSpPr/>
          <p:nvPr/>
        </p:nvSpPr>
        <p:spPr>
          <a:xfrm>
            <a:off x="8174048" y="-6350"/>
            <a:ext cx="967571" cy="5143500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41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4" name="Google Shape;624;g39f34c83a37_0_68"/>
          <p:cNvSpPr/>
          <p:nvPr/>
        </p:nvSpPr>
        <p:spPr>
          <a:xfrm>
            <a:off x="8204249" y="-6350"/>
            <a:ext cx="937369" cy="5143500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31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5" name="Google Shape;625;g39f34c83a37_0_68"/>
          <p:cNvSpPr/>
          <p:nvPr/>
        </p:nvSpPr>
        <p:spPr>
          <a:xfrm>
            <a:off x="7778750" y="2692400"/>
            <a:ext cx="1362900" cy="2451000"/>
          </a:xfrm>
          <a:prstGeom prst="triangle">
            <a:avLst>
              <a:gd fmla="val 100000" name="adj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6" name="Google Shape;626;g39f34c83a37_0_68"/>
          <p:cNvSpPr txBox="1"/>
          <p:nvPr/>
        </p:nvSpPr>
        <p:spPr>
          <a:xfrm>
            <a:off x="508000" y="921049"/>
            <a:ext cx="67632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20"/>
              <a:buFont typeface="Trebuchet MS"/>
              <a:buNone/>
            </a:pPr>
            <a:r>
              <a:rPr b="1" lang="en" sz="1235">
                <a:solidFill>
                  <a:schemeClr val="dk1"/>
                </a:solidFill>
              </a:rPr>
              <a:t>Panel principal de experimentos de MLflow</a:t>
            </a:r>
            <a:r>
              <a:rPr lang="en" sz="1235">
                <a:solidFill>
                  <a:schemeClr val="dk1"/>
                </a:solidFill>
              </a:rPr>
              <a:t>, donde se registran automáticamente todas las ejecuciones del modelo. Cada fila representa un experimento independiente con su respectiva configuración, fecha de creación y última modificación.</a:t>
            </a:r>
            <a:endParaRPr b="0" i="0" sz="132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27" name="Google Shape;627;g39f34c83a37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1836413"/>
            <a:ext cx="5317200" cy="1457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g39f34c83a37_0_68" title="Screenshot 2025-11-01 at 10.19.57 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9050" y="1836413"/>
            <a:ext cx="2570725" cy="14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g39f34c83a37_0_68"/>
          <p:cNvSpPr txBox="1"/>
          <p:nvPr/>
        </p:nvSpPr>
        <p:spPr>
          <a:xfrm>
            <a:off x="5909050" y="3294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MLFlow</a:t>
            </a:r>
            <a:endParaRPr b="1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g39f34c83a37_0_98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636" name="Google Shape;636;g39f34c83a37_0_98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7" name="Google Shape;637;g39f34c83a37_0_98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8" name="Google Shape;638;g39f34c83a37_0_98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9" name="Google Shape;639;g39f34c83a37_0_98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0" name="Google Shape;640;g39f34c83a37_0_98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1" name="Google Shape;641;g39f34c83a37_0_98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2" name="Google Shape;642;g39f34c83a37_0_98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3" name="Google Shape;643;g39f34c83a37_0_98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4" name="Google Shape;644;g39f34c83a37_0_98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5" name="Google Shape;645;g39f34c83a37_0_98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646" name="Google Shape;646;g39f34c83a37_0_98"/>
          <p:cNvSpPr txBox="1"/>
          <p:nvPr>
            <p:ph type="title"/>
          </p:nvPr>
        </p:nvSpPr>
        <p:spPr>
          <a:xfrm>
            <a:off x="508000" y="457200"/>
            <a:ext cx="53172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Comparación de modelos</a:t>
            </a:r>
            <a:endParaRPr b="1" sz="2100"/>
          </a:p>
        </p:txBody>
      </p:sp>
      <p:cxnSp>
        <p:nvCxnSpPr>
          <p:cNvPr id="647" name="Google Shape;647;g39f34c83a37_0_98"/>
          <p:cNvCxnSpPr/>
          <p:nvPr/>
        </p:nvCxnSpPr>
        <p:spPr>
          <a:xfrm>
            <a:off x="7028259" y="0"/>
            <a:ext cx="914400" cy="5143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g39f34c83a37_0_98"/>
          <p:cNvCxnSpPr/>
          <p:nvPr/>
        </p:nvCxnSpPr>
        <p:spPr>
          <a:xfrm flipH="1">
            <a:off x="5568919" y="2761060"/>
            <a:ext cx="3572700" cy="2382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9" name="Google Shape;649;g39f34c83a37_0_98"/>
          <p:cNvSpPr/>
          <p:nvPr/>
        </p:nvSpPr>
        <p:spPr>
          <a:xfrm>
            <a:off x="6886107" y="-6350"/>
            <a:ext cx="2255512" cy="5149850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409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0" name="Google Shape;650;g39f34c83a37_0_98"/>
          <p:cNvSpPr/>
          <p:nvPr/>
        </p:nvSpPr>
        <p:spPr>
          <a:xfrm>
            <a:off x="7202582" y="-6350"/>
            <a:ext cx="1942850" cy="5149850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1" name="Google Shape;651;g39f34c83a37_0_98"/>
          <p:cNvSpPr/>
          <p:nvPr/>
        </p:nvSpPr>
        <p:spPr>
          <a:xfrm>
            <a:off x="6699250" y="2286000"/>
            <a:ext cx="2444700" cy="2857500"/>
          </a:xfrm>
          <a:prstGeom prst="triangle">
            <a:avLst>
              <a:gd fmla="val 100000" name="adj"/>
            </a:avLst>
          </a:prstGeom>
          <a:solidFill>
            <a:schemeClr val="accent2">
              <a:alpha val="7137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2" name="Google Shape;652;g39f34c83a37_0_98"/>
          <p:cNvSpPr/>
          <p:nvPr/>
        </p:nvSpPr>
        <p:spPr>
          <a:xfrm>
            <a:off x="7000875" y="-6350"/>
            <a:ext cx="2143510" cy="5149850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27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3" name="Google Shape;653;g39f34c83a37_0_98"/>
          <p:cNvSpPr/>
          <p:nvPr/>
        </p:nvSpPr>
        <p:spPr>
          <a:xfrm>
            <a:off x="8174048" y="-6350"/>
            <a:ext cx="967571" cy="5143500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41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4" name="Google Shape;654;g39f34c83a37_0_98"/>
          <p:cNvSpPr/>
          <p:nvPr/>
        </p:nvSpPr>
        <p:spPr>
          <a:xfrm>
            <a:off x="8204249" y="-6350"/>
            <a:ext cx="937369" cy="5143500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31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5" name="Google Shape;655;g39f34c83a37_0_98"/>
          <p:cNvSpPr/>
          <p:nvPr/>
        </p:nvSpPr>
        <p:spPr>
          <a:xfrm>
            <a:off x="7778750" y="2692400"/>
            <a:ext cx="1362900" cy="2451000"/>
          </a:xfrm>
          <a:prstGeom prst="triangle">
            <a:avLst>
              <a:gd fmla="val 100000" name="adj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6" name="Google Shape;656;g39f34c83a37_0_98"/>
          <p:cNvSpPr txBox="1"/>
          <p:nvPr/>
        </p:nvSpPr>
        <p:spPr>
          <a:xfrm>
            <a:off x="508000" y="872617"/>
            <a:ext cx="67632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b="1" lang="en" sz="1235">
                <a:solidFill>
                  <a:schemeClr val="accent1"/>
                </a:solidFill>
              </a:rPr>
              <a:t>MLflow permitió registrar</a:t>
            </a:r>
            <a:r>
              <a:rPr lang="en" sz="12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" sz="1235">
                <a:solidFill>
                  <a:schemeClr val="accent1"/>
                </a:solidFill>
              </a:rPr>
              <a:t>y comparar automáticamente múltiples ejecuciones del modelo.</a:t>
            </a:r>
            <a:endParaRPr b="0" i="0" sz="132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7" name="Google Shape;657;g39f34c83a37_0_98"/>
          <p:cNvSpPr txBox="1"/>
          <p:nvPr/>
        </p:nvSpPr>
        <p:spPr>
          <a:xfrm>
            <a:off x="508000" y="1292364"/>
            <a:ext cx="67632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20"/>
              <a:buFont typeface="Trebuchet MS"/>
              <a:buNone/>
            </a:pPr>
            <a:r>
              <a:rPr lang="en" sz="1200">
                <a:solidFill>
                  <a:schemeClr val="dk1"/>
                </a:solidFill>
              </a:rPr>
              <a:t>MLflow permite </a:t>
            </a:r>
            <a:r>
              <a:rPr b="1" lang="en" sz="1200">
                <a:solidFill>
                  <a:schemeClr val="dk1"/>
                </a:solidFill>
              </a:rPr>
              <a:t>comparar resultados y métricas entre modelos</a:t>
            </a:r>
            <a:r>
              <a:rPr lang="en" sz="1200">
                <a:solidFill>
                  <a:schemeClr val="dk1"/>
                </a:solidFill>
              </a:rPr>
              <a:t>, analizar tiempos de ejecución y guardar automáticamente los artefactos entrenados. Esto facilita identificar cuál modelo ofrece el mejor desempeño y mantener un historial completo de versiones y configuraciones.</a:t>
            </a:r>
            <a:endParaRPr b="0" i="0" sz="12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58" name="Google Shape;658;g39f34c83a37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38" y="2020175"/>
            <a:ext cx="8167826" cy="302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4" name="Google Shape;664;g39f34c83a37_0_130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665" name="Google Shape;665;g39f34c83a37_0_130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6" name="Google Shape;666;g39f34c83a37_0_130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7" name="Google Shape;667;g39f34c83a37_0_130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68" name="Google Shape;668;g39f34c83a37_0_130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69" name="Google Shape;669;g39f34c83a37_0_130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0" name="Google Shape;670;g39f34c83a37_0_130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1" name="Google Shape;671;g39f34c83a37_0_130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2" name="Google Shape;672;g39f34c83a37_0_130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3" name="Google Shape;673;g39f34c83a37_0_130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4" name="Google Shape;674;g39f34c83a37_0_130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675" name="Google Shape;675;g39f34c83a37_0_130"/>
          <p:cNvSpPr txBox="1"/>
          <p:nvPr>
            <p:ph type="title"/>
          </p:nvPr>
        </p:nvSpPr>
        <p:spPr>
          <a:xfrm>
            <a:off x="508000" y="457200"/>
            <a:ext cx="53172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Visualización de Comparaciones</a:t>
            </a:r>
            <a:endParaRPr b="1" sz="2100"/>
          </a:p>
        </p:txBody>
      </p:sp>
      <p:cxnSp>
        <p:nvCxnSpPr>
          <p:cNvPr id="676" name="Google Shape;676;g39f34c83a37_0_130"/>
          <p:cNvCxnSpPr/>
          <p:nvPr/>
        </p:nvCxnSpPr>
        <p:spPr>
          <a:xfrm>
            <a:off x="7028259" y="0"/>
            <a:ext cx="914400" cy="5143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7" name="Google Shape;677;g39f34c83a37_0_130"/>
          <p:cNvCxnSpPr/>
          <p:nvPr/>
        </p:nvCxnSpPr>
        <p:spPr>
          <a:xfrm flipH="1">
            <a:off x="5568919" y="2761060"/>
            <a:ext cx="3572700" cy="2382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8" name="Google Shape;678;g39f34c83a37_0_130"/>
          <p:cNvSpPr/>
          <p:nvPr/>
        </p:nvSpPr>
        <p:spPr>
          <a:xfrm>
            <a:off x="6886107" y="-6350"/>
            <a:ext cx="2255512" cy="5149850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409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9" name="Google Shape;679;g39f34c83a37_0_130"/>
          <p:cNvSpPr/>
          <p:nvPr/>
        </p:nvSpPr>
        <p:spPr>
          <a:xfrm>
            <a:off x="7202582" y="-6350"/>
            <a:ext cx="1942850" cy="5149850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0" name="Google Shape;680;g39f34c83a37_0_130"/>
          <p:cNvSpPr/>
          <p:nvPr/>
        </p:nvSpPr>
        <p:spPr>
          <a:xfrm>
            <a:off x="6699250" y="2286000"/>
            <a:ext cx="2444700" cy="2857500"/>
          </a:xfrm>
          <a:prstGeom prst="triangle">
            <a:avLst>
              <a:gd fmla="val 100000" name="adj"/>
            </a:avLst>
          </a:prstGeom>
          <a:solidFill>
            <a:schemeClr val="accent2">
              <a:alpha val="7137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1" name="Google Shape;681;g39f34c83a37_0_130"/>
          <p:cNvSpPr/>
          <p:nvPr/>
        </p:nvSpPr>
        <p:spPr>
          <a:xfrm>
            <a:off x="7000875" y="-6350"/>
            <a:ext cx="2143510" cy="5149850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27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2" name="Google Shape;682;g39f34c83a37_0_130"/>
          <p:cNvSpPr/>
          <p:nvPr/>
        </p:nvSpPr>
        <p:spPr>
          <a:xfrm>
            <a:off x="8174048" y="-6350"/>
            <a:ext cx="967571" cy="5143500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41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3" name="Google Shape;683;g39f34c83a37_0_130"/>
          <p:cNvSpPr/>
          <p:nvPr/>
        </p:nvSpPr>
        <p:spPr>
          <a:xfrm>
            <a:off x="8204249" y="-6350"/>
            <a:ext cx="937369" cy="5143500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31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4" name="Google Shape;684;g39f34c83a37_0_130"/>
          <p:cNvSpPr/>
          <p:nvPr/>
        </p:nvSpPr>
        <p:spPr>
          <a:xfrm>
            <a:off x="7778750" y="2692400"/>
            <a:ext cx="1362900" cy="2451000"/>
          </a:xfrm>
          <a:prstGeom prst="triangle">
            <a:avLst>
              <a:gd fmla="val 100000" name="adj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5" name="Google Shape;685;g39f34c83a37_0_130"/>
          <p:cNvSpPr txBox="1"/>
          <p:nvPr/>
        </p:nvSpPr>
        <p:spPr>
          <a:xfrm>
            <a:off x="508000" y="872617"/>
            <a:ext cx="67632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None/>
            </a:pPr>
            <a:r>
              <a:rPr b="1" lang="en" sz="1235">
                <a:solidFill>
                  <a:schemeClr val="accent1"/>
                </a:solidFill>
              </a:rPr>
              <a:t>Relación entre hiperparámetros y desempeño del modelo</a:t>
            </a:r>
            <a:endParaRPr b="0" i="0" sz="132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6" name="Google Shape;686;g39f34c83a37_0_130"/>
          <p:cNvSpPr txBox="1"/>
          <p:nvPr/>
        </p:nvSpPr>
        <p:spPr>
          <a:xfrm>
            <a:off x="508000" y="1211644"/>
            <a:ext cx="67632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20"/>
              <a:buFont typeface="Trebuchet MS"/>
              <a:buNone/>
            </a:pPr>
            <a:r>
              <a:rPr lang="en" sz="1200">
                <a:solidFill>
                  <a:schemeClr val="dk1"/>
                </a:solidFill>
              </a:rPr>
              <a:t>Las líneas de color más frío (azul) indican un </a:t>
            </a:r>
            <a:r>
              <a:rPr b="1" lang="en" sz="1200">
                <a:solidFill>
                  <a:schemeClr val="dk1"/>
                </a:solidFill>
              </a:rPr>
              <a:t>mejor desempeño</a:t>
            </a:r>
            <a:r>
              <a:rPr lang="en" sz="1200">
                <a:solidFill>
                  <a:schemeClr val="dk1"/>
                </a:solidFill>
              </a:rPr>
              <a:t>, mientras que las más cálidas (rojo/amarillo) reflejan un </a:t>
            </a:r>
            <a:r>
              <a:rPr b="1" lang="en" sz="1200">
                <a:solidFill>
                  <a:schemeClr val="dk1"/>
                </a:solidFill>
              </a:rPr>
              <a:t>MAE más alto</a:t>
            </a:r>
            <a:r>
              <a:rPr lang="en" sz="1200">
                <a:solidFill>
                  <a:schemeClr val="dk1"/>
                </a:solidFill>
              </a:rPr>
              <a:t>, es decir, menor precisión. Se observa que los modelos tipo </a:t>
            </a:r>
            <a:r>
              <a:rPr i="1" lang="en" sz="1200">
                <a:solidFill>
                  <a:schemeClr val="dk1"/>
                </a:solidFill>
              </a:rPr>
              <a:t>Random Forest</a:t>
            </a:r>
            <a:r>
              <a:rPr lang="en" sz="1200">
                <a:solidFill>
                  <a:schemeClr val="dk1"/>
                </a:solidFill>
              </a:rPr>
              <a:t> con menor profundidad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max_depth</a:t>
            </a:r>
            <a:r>
              <a:rPr lang="en" sz="1200">
                <a:solidFill>
                  <a:schemeClr val="dk1"/>
                </a:solidFill>
              </a:rPr>
              <a:t>) y menor número de estimadores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n_estimators</a:t>
            </a:r>
            <a:r>
              <a:rPr lang="en" sz="1200">
                <a:solidFill>
                  <a:schemeClr val="dk1"/>
                </a:solidFill>
              </a:rPr>
              <a:t>) presentan un rendimiento superior frente a configuraciones más complejas.</a:t>
            </a:r>
            <a:endParaRPr b="0" i="0" sz="12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87" name="Google Shape;687;g39f34c83a37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634" y="2106675"/>
            <a:ext cx="8161874" cy="285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oogle Shape;693;g39f34c83a37_0_162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694" name="Google Shape;694;g39f34c83a37_0_16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5" name="Google Shape;695;g39f34c83a37_0_162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6" name="Google Shape;696;g39f34c83a37_0_16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0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7" name="Google Shape;697;g39f34c83a37_0_162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8" name="Google Shape;698;g39f34c83a37_0_162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9" name="Google Shape;699;g39f34c83a37_0_162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0" name="Google Shape;700;g39f34c83a37_0_162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1" name="Google Shape;701;g39f34c83a37_0_162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2" name="Google Shape;702;g39f34c83a37_0_162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3" name="Google Shape;703;g39f34c83a37_0_162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704" name="Google Shape;704;g39f34c83a37_0_162"/>
          <p:cNvSpPr txBox="1"/>
          <p:nvPr>
            <p:ph type="title"/>
          </p:nvPr>
        </p:nvSpPr>
        <p:spPr>
          <a:xfrm>
            <a:off x="508000" y="457200"/>
            <a:ext cx="53172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" sz="2100"/>
              <a:t>Identificación del mejor modelo</a:t>
            </a:r>
            <a:endParaRPr b="1" sz="2100"/>
          </a:p>
        </p:txBody>
      </p:sp>
      <p:cxnSp>
        <p:nvCxnSpPr>
          <p:cNvPr id="705" name="Google Shape;705;g39f34c83a37_0_162"/>
          <p:cNvCxnSpPr/>
          <p:nvPr/>
        </p:nvCxnSpPr>
        <p:spPr>
          <a:xfrm>
            <a:off x="7028259" y="0"/>
            <a:ext cx="914400" cy="5143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g39f34c83a37_0_162"/>
          <p:cNvCxnSpPr/>
          <p:nvPr/>
        </p:nvCxnSpPr>
        <p:spPr>
          <a:xfrm flipH="1">
            <a:off x="5568919" y="2761060"/>
            <a:ext cx="3572700" cy="23823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g39f34c83a37_0_162"/>
          <p:cNvSpPr/>
          <p:nvPr/>
        </p:nvSpPr>
        <p:spPr>
          <a:xfrm>
            <a:off x="6886107" y="-6350"/>
            <a:ext cx="2255512" cy="5149850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409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8" name="Google Shape;708;g39f34c83a37_0_162"/>
          <p:cNvSpPr/>
          <p:nvPr/>
        </p:nvSpPr>
        <p:spPr>
          <a:xfrm>
            <a:off x="7202582" y="-6350"/>
            <a:ext cx="1942850" cy="5149850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9" name="Google Shape;709;g39f34c83a37_0_162"/>
          <p:cNvSpPr/>
          <p:nvPr/>
        </p:nvSpPr>
        <p:spPr>
          <a:xfrm>
            <a:off x="6699250" y="2286000"/>
            <a:ext cx="2444700" cy="2857500"/>
          </a:xfrm>
          <a:prstGeom prst="triangle">
            <a:avLst>
              <a:gd fmla="val 100000" name="adj"/>
            </a:avLst>
          </a:prstGeom>
          <a:solidFill>
            <a:schemeClr val="accent2">
              <a:alpha val="7137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0" name="Google Shape;710;g39f34c83a37_0_162"/>
          <p:cNvSpPr/>
          <p:nvPr/>
        </p:nvSpPr>
        <p:spPr>
          <a:xfrm>
            <a:off x="7000875" y="-6350"/>
            <a:ext cx="2143510" cy="5149850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27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1" name="Google Shape;711;g39f34c83a37_0_162"/>
          <p:cNvSpPr/>
          <p:nvPr/>
        </p:nvSpPr>
        <p:spPr>
          <a:xfrm>
            <a:off x="8174048" y="-6350"/>
            <a:ext cx="967571" cy="5143500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41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2" name="Google Shape;712;g39f34c83a37_0_162"/>
          <p:cNvSpPr/>
          <p:nvPr/>
        </p:nvSpPr>
        <p:spPr>
          <a:xfrm>
            <a:off x="8204249" y="-6350"/>
            <a:ext cx="937369" cy="5143500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31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3" name="Google Shape;713;g39f34c83a37_0_162"/>
          <p:cNvSpPr/>
          <p:nvPr/>
        </p:nvSpPr>
        <p:spPr>
          <a:xfrm>
            <a:off x="7778750" y="2692400"/>
            <a:ext cx="1362900" cy="2451000"/>
          </a:xfrm>
          <a:prstGeom prst="triangle">
            <a:avLst>
              <a:gd fmla="val 100000" name="adj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4" name="Google Shape;714;g39f34c83a37_0_162"/>
          <p:cNvSpPr txBox="1"/>
          <p:nvPr/>
        </p:nvSpPr>
        <p:spPr>
          <a:xfrm>
            <a:off x="508000" y="856476"/>
            <a:ext cx="6763200" cy="1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La </a:t>
            </a:r>
            <a:r>
              <a:rPr b="1" lang="en" sz="1100">
                <a:solidFill>
                  <a:schemeClr val="dk1"/>
                </a:solidFill>
              </a:rPr>
              <a:t>línea azul</a:t>
            </a:r>
            <a:r>
              <a:rPr lang="en" sz="1100">
                <a:solidFill>
                  <a:schemeClr val="dk1"/>
                </a:solidFill>
              </a:rPr>
              <a:t>, que aparece con los valores </a:t>
            </a:r>
            <a:r>
              <a:rPr b="1" lang="en" sz="1100">
                <a:solidFill>
                  <a:schemeClr val="dk1"/>
                </a:solidFill>
              </a:rPr>
              <a:t>más bajos en MSE, MAE y RMSE</a:t>
            </a:r>
            <a:r>
              <a:rPr lang="en" sz="1100">
                <a:solidFill>
                  <a:schemeClr val="dk1"/>
                </a:solidFill>
              </a:rPr>
              <a:t> y el </a:t>
            </a:r>
            <a:r>
              <a:rPr b="1" lang="en" sz="1100">
                <a:solidFill>
                  <a:schemeClr val="dk1"/>
                </a:solidFill>
              </a:rPr>
              <a:t>R² menos negativo</a:t>
            </a:r>
            <a:r>
              <a:rPr lang="en" sz="1100">
                <a:solidFill>
                  <a:schemeClr val="dk1"/>
                </a:solidFill>
              </a:rPr>
              <a:t>, representa el modelo con </a:t>
            </a:r>
            <a:r>
              <a:rPr b="1" lang="en" sz="1100">
                <a:solidFill>
                  <a:schemeClr val="dk1"/>
                </a:solidFill>
              </a:rPr>
              <a:t>mejor desempeño general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Según la escala de colores (de rojo a azul), las líneas azules indican los </a:t>
            </a:r>
            <a:r>
              <a:rPr b="1" lang="en" sz="1100">
                <a:solidFill>
                  <a:schemeClr val="dk1"/>
                </a:solidFill>
              </a:rPr>
              <a:t>modelos más precisos y con menor error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Este modelo corresponde a un </a:t>
            </a:r>
            <a:r>
              <a:rPr b="1" lang="en" sz="1100">
                <a:solidFill>
                  <a:schemeClr val="dk1"/>
                </a:solidFill>
              </a:rPr>
              <a:t>Random Forest</a:t>
            </a:r>
            <a:r>
              <a:rPr lang="en" sz="1100">
                <a:solidFill>
                  <a:schemeClr val="dk1"/>
                </a:solidFill>
              </a:rPr>
              <a:t> con </a:t>
            </a:r>
            <a:r>
              <a:rPr b="1" lang="en" sz="1100">
                <a:solidFill>
                  <a:schemeClr val="dk1"/>
                </a:solidFill>
              </a:rPr>
              <a:t>max_depth ≈ 10</a:t>
            </a:r>
            <a:r>
              <a:rPr lang="en" sz="1100">
                <a:solidFill>
                  <a:schemeClr val="dk1"/>
                </a:solidFill>
              </a:rPr>
              <a:t> y </a:t>
            </a:r>
            <a:r>
              <a:rPr b="1" lang="en" sz="1100">
                <a:solidFill>
                  <a:schemeClr val="dk1"/>
                </a:solidFill>
              </a:rPr>
              <a:t>n_estimators ≈ 100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15" name="Google Shape;715;g39f34c83a37_0_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450" y="2149323"/>
            <a:ext cx="7848328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oogle Shape;721;p18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722" name="Google Shape;722;p18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3" name="Google Shape;723;p18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4" name="Google Shape;724;p18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5" name="Google Shape;725;p18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8" name="Google Shape;728;p18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9" name="Google Shape;729;p18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30" name="Google Shape;730;p18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31" name="Google Shape;731;p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732" name="Google Shape;732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3" name="Google Shape;733;p18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en"/>
              <a:t>Conclusiones</a:t>
            </a:r>
            <a:endParaRPr/>
          </a:p>
        </p:txBody>
      </p:sp>
      <p:sp>
        <p:nvSpPr>
          <p:cNvPr id="734" name="Google Shape;734;p18"/>
          <p:cNvSpPr txBox="1"/>
          <p:nvPr>
            <p:ph idx="2" type="body"/>
          </p:nvPr>
        </p:nvSpPr>
        <p:spPr>
          <a:xfrm>
            <a:off x="588275" y="1196725"/>
            <a:ext cx="8184900" cy="3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Durante esta fase se consolidó la </a:t>
            </a: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estructuración del proyecto</a:t>
            </a: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mediante el uso de </a:t>
            </a:r>
            <a:r>
              <a:rPr i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Cookiecutter Data Science</a:t>
            </a: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lo que permitió organizar el código y los recursos en una arquitectura clara y reutilizable. Esta estandarización mejoró la colaboración entre los integrantes del equipo y facilitó la integración de nuevas funciones sin afectar la estabilidad del proyecto.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Posteriormente, se realizó una </a:t>
            </a: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refactorización completa del código</a:t>
            </a: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trasladando los procesos de los notebooks a scripts modulares. Esto permitió aplicar mejores prácticas de programación, automatizar el flujo de modelado y reducir errores manuales durante el entrenamiento y validación de los modelos.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Finalmente, se integró </a:t>
            </a: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MLflow como herramienta para el seguimiento y gestión de experimentos</a:t>
            </a: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registrando métricas, hiperparámetros y versiones de modelos. Junto con el uso de </a:t>
            </a:r>
            <a:r>
              <a:rPr i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para el control de versiones y trabajo colaborativo, el proyecto alcanzó un flujo de desarrollo más profesional, reproducible y alineado con entornos productivos.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